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notesSlides/notesSlide3.xml" ContentType="application/vnd.openxmlformats-officedocument.presentationml.notesSlide+xml"/>
  <Override PartName="/ppt/tags/tag6.xml" ContentType="application/vnd.openxmlformats-officedocument.presentationml.tags+xml"/>
  <Override PartName="/ppt/notesSlides/notesSlide4.xml" ContentType="application/vnd.openxmlformats-officedocument.presentationml.notesSlide+xml"/>
  <Override PartName="/ppt/tags/tag7.xml" ContentType="application/vnd.openxmlformats-officedocument.presentationml.tags+xml"/>
  <Override PartName="/ppt/notesSlides/notesSlide5.xml" ContentType="application/vnd.openxmlformats-officedocument.presentationml.notesSlide+xml"/>
  <Override PartName="/ppt/tags/tag8.xml" ContentType="application/vnd.openxmlformats-officedocument.presentationml.tags+xml"/>
  <Override PartName="/ppt/notesSlides/notesSlide6.xml" ContentType="application/vnd.openxmlformats-officedocument.presentationml.notesSlide+xml"/>
  <Override PartName="/ppt/tags/tag9.xml" ContentType="application/vnd.openxmlformats-officedocument.presentationml.tags+xml"/>
  <Override PartName="/ppt/notesSlides/notesSlide7.xml" ContentType="application/vnd.openxmlformats-officedocument.presentationml.notesSlide+xml"/>
  <Override PartName="/ppt/tags/tag10.xml" ContentType="application/vnd.openxmlformats-officedocument.presentationml.tags+xml"/>
  <Override PartName="/ppt/notesSlides/notesSlide8.xml" ContentType="application/vnd.openxmlformats-officedocument.presentationml.notesSlide+xml"/>
  <Override PartName="/ppt/tags/tag11.xml" ContentType="application/vnd.openxmlformats-officedocument.presentationml.tags+xml"/>
  <Override PartName="/ppt/notesSlides/notesSlide9.xml" ContentType="application/vnd.openxmlformats-officedocument.presentationml.notesSlide+xml"/>
  <Override PartName="/ppt/tags/tag12.xml" ContentType="application/vnd.openxmlformats-officedocument.presentationml.tags+xml"/>
  <Override PartName="/ppt/notesSlides/notesSlide10.xml" ContentType="application/vnd.openxmlformats-officedocument.presentationml.notesSlide+xml"/>
  <Override PartName="/ppt/tags/tag13.xml" ContentType="application/vnd.openxmlformats-officedocument.presentationml.tags+xml"/>
  <Override PartName="/ppt/notesSlides/notesSlide11.xml" ContentType="application/vnd.openxmlformats-officedocument.presentationml.notesSlide+xml"/>
  <Override PartName="/ppt/tags/tag14.xml" ContentType="application/vnd.openxmlformats-officedocument.presentationml.tags+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6"/>
  </p:notesMasterIdLst>
  <p:sldIdLst>
    <p:sldId id="259" r:id="rId2"/>
    <p:sldId id="306" r:id="rId3"/>
    <p:sldId id="307" r:id="rId4"/>
    <p:sldId id="308" r:id="rId5"/>
    <p:sldId id="309" r:id="rId6"/>
    <p:sldId id="310" r:id="rId7"/>
    <p:sldId id="311" r:id="rId8"/>
    <p:sldId id="312" r:id="rId9"/>
    <p:sldId id="313" r:id="rId10"/>
    <p:sldId id="314" r:id="rId11"/>
    <p:sldId id="315" r:id="rId12"/>
    <p:sldId id="316" r:id="rId13"/>
    <p:sldId id="317" r:id="rId14"/>
    <p:sldId id="318"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92832F5-EA01-48E5-B403-87E193F50680}">
          <p14:sldIdLst>
            <p14:sldId id="259"/>
          </p14:sldIdLst>
        </p14:section>
        <p14:section name="Project Overview" id="{087866C3-7028-482C-8D34-6BF5363FBD75}">
          <p14:sldIdLst/>
        </p14:section>
        <p14:section name="Status Update" id="{521DEF98-8796-4632-831A-16252E9A6054}">
          <p14:sldIdLst>
            <p14:sldId id="306"/>
            <p14:sldId id="307"/>
            <p14:sldId id="308"/>
            <p14:sldId id="309"/>
            <p14:sldId id="310"/>
            <p14:sldId id="311"/>
            <p14:sldId id="312"/>
            <p14:sldId id="313"/>
            <p14:sldId id="314"/>
            <p14:sldId id="315"/>
            <p14:sldId id="316"/>
            <p14:sldId id="317"/>
            <p14:sldId id="318"/>
          </p14:sldIdLst>
        </p14:section>
        <p14:section name="Timeline" id="{CF24EBA6-C924-424D-AC31-A4B9992A87E0}">
          <p14:sldIdLst/>
        </p14:section>
        <p14:section name="Next Steps and Action Items" id="{C24C98EC-938D-4034-8DB8-5E8DBF16E3CB}">
          <p14:sldIdLst/>
        </p14:section>
        <p14:section name="Appendix" id="{E35CCD6A-2288-476E-BC93-C75323AE1F3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1"/>
    </p:ext>
    <p:ext uri="{D31A062A-798A-4329-ABDD-BBA856620510}">
      <p14:defaultImageDpi xmlns:p14="http://schemas.microsoft.com/office/powerpoint/2010/main" val="96"/>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35" autoAdjust="0"/>
    <p:restoredTop sz="88187" autoAdjust="0"/>
  </p:normalViewPr>
  <p:slideViewPr>
    <p:cSldViewPr>
      <p:cViewPr varScale="1">
        <p:scale>
          <a:sx n="65" d="100"/>
          <a:sy n="65" d="100"/>
        </p:scale>
        <p:origin x="-1302" y="-96"/>
      </p:cViewPr>
      <p:guideLst>
        <p:guide orient="horz" pos="2160"/>
        <p:guide orient="horz" pos="576"/>
        <p:guide pos="2880"/>
        <p:guide pos="2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30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4506C0-3FFE-45A5-803D-9F4FC5464A70}" type="datetimeFigureOut">
              <a:rPr lang="en-US" smtClean="0"/>
              <a:t>11/11/2025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8646707-6BBD-41A9-B4DF-0C76A73A2D2A}" type="slidenum">
              <a:rPr lang="en-US" smtClean="0"/>
              <a:t>‹#›</a:t>
            </a:fld>
            <a:endParaRPr lang="en-US"/>
          </a:p>
        </p:txBody>
      </p:sp>
    </p:spTree>
    <p:extLst>
      <p:ext uri="{BB962C8B-B14F-4D97-AF65-F5344CB8AC3E}">
        <p14:creationId xmlns:p14="http://schemas.microsoft.com/office/powerpoint/2010/main" val="1067449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This template can be used as a starter file to give updates for project</a:t>
            </a:r>
            <a:r>
              <a:rPr lang="en-US" baseline="0" dirty="0" smtClean="0"/>
              <a:t> milestones.</a:t>
            </a:r>
            <a:endParaRPr lang="en-US" dirty="0" smtClean="0"/>
          </a:p>
          <a:p>
            <a:endParaRPr lang="en-US" baseline="0" dirty="0" smtClean="0"/>
          </a:p>
          <a:p>
            <a:pPr lvl="0"/>
            <a:r>
              <a:rPr lang="en-US" sz="1000" b="1" dirty="0" smtClean="0"/>
              <a:t>Sections</a:t>
            </a:r>
            <a:endParaRPr lang="en-US" sz="1000" b="0" dirty="0" smtClean="0"/>
          </a:p>
          <a:p>
            <a:pPr lvl="0"/>
            <a:r>
              <a:rPr lang="en-US" sz="1000" b="0" dirty="0" smtClean="0"/>
              <a:t>Right-click on a slide to add sections.</a:t>
            </a:r>
            <a:r>
              <a:rPr lang="en-US" sz="1000" b="0" baseline="0" dirty="0" smtClean="0"/>
              <a:t> Sections can help to organize your slides or facilitate collaboration between multiple authors.</a:t>
            </a:r>
            <a:endParaRPr lang="en-US" sz="1000" b="0" dirty="0" smtClean="0"/>
          </a:p>
          <a:p>
            <a:pPr lvl="0"/>
            <a:endParaRPr lang="en-US" sz="1000" b="1" dirty="0" smtClean="0"/>
          </a:p>
          <a:p>
            <a:pPr lvl="0"/>
            <a:r>
              <a:rPr lang="en-US" sz="1000" b="1" dirty="0" smtClean="0"/>
              <a:t>Notes</a:t>
            </a:r>
          </a:p>
          <a:p>
            <a:pPr lvl="0"/>
            <a:r>
              <a:rPr lang="en-US" sz="1000" dirty="0" smtClean="0"/>
              <a:t>Use the Notes section for delivery notes or to provide additional details for the audience.</a:t>
            </a:r>
            <a:r>
              <a:rPr lang="en-US" sz="1000" baseline="0" dirty="0" smtClean="0"/>
              <a:t> View these notes in Presentation View during your presentation. </a:t>
            </a:r>
          </a:p>
          <a:p>
            <a:pPr lvl="0">
              <a:buFontTx/>
              <a:buNone/>
            </a:pPr>
            <a:r>
              <a:rPr lang="en-US" sz="1000" dirty="0" smtClean="0"/>
              <a:t>Keep in mind the font size (important for accessibility, visibility, videotaping, and online production)</a:t>
            </a:r>
          </a:p>
          <a:p>
            <a:pPr lvl="0"/>
            <a:endParaRPr lang="en-US" sz="1000" dirty="0" smtClean="0"/>
          </a:p>
          <a:p>
            <a:pPr lvl="0">
              <a:buFontTx/>
              <a:buNone/>
            </a:pPr>
            <a:r>
              <a:rPr lang="en-US" sz="1000" b="1" dirty="0" smtClean="0"/>
              <a:t>Coordinated colors </a:t>
            </a:r>
          </a:p>
          <a:p>
            <a:pPr lvl="0">
              <a:buFontTx/>
              <a:buNone/>
            </a:pPr>
            <a:r>
              <a:rPr lang="en-US" sz="1000" dirty="0" smtClean="0"/>
              <a:t>Pay particular attention to the graphs, charts, and text boxes.</a:t>
            </a:r>
            <a:r>
              <a:rPr lang="en-US" sz="1000" baseline="0" dirty="0" smtClean="0"/>
              <a:t> </a:t>
            </a:r>
            <a:endParaRPr lang="en-US" sz="1000" dirty="0" smtClean="0"/>
          </a:p>
          <a:p>
            <a:pPr lvl="0"/>
            <a:r>
              <a:rPr lang="en-US" sz="1000" dirty="0" smtClean="0"/>
              <a:t>Consider that attendees will print in black and white or </a:t>
            </a:r>
            <a:r>
              <a:rPr lang="en-US" sz="1000" dirty="0" err="1" smtClean="0"/>
              <a:t>grayscale</a:t>
            </a:r>
            <a:r>
              <a:rPr lang="en-US" sz="1000" dirty="0" smtClean="0"/>
              <a:t>. Run a test print to make sure your colors work when printed in pure black and white and </a:t>
            </a:r>
            <a:r>
              <a:rPr lang="en-US" sz="1000" dirty="0" err="1" smtClean="0"/>
              <a:t>grayscale</a:t>
            </a:r>
            <a:r>
              <a:rPr lang="en-US" sz="1000" dirty="0" smtClean="0"/>
              <a:t>.</a:t>
            </a:r>
          </a:p>
          <a:p>
            <a:pPr lvl="0">
              <a:buFontTx/>
              <a:buNone/>
            </a:pPr>
            <a:endParaRPr lang="en-US" sz="1000" dirty="0" smtClean="0"/>
          </a:p>
          <a:p>
            <a:pPr lvl="0">
              <a:buFontTx/>
              <a:buNone/>
            </a:pPr>
            <a:r>
              <a:rPr lang="en-US" sz="1000" b="1" dirty="0" smtClean="0"/>
              <a:t>Graphics, tables, and graphs</a:t>
            </a:r>
          </a:p>
          <a:p>
            <a:pPr lvl="0"/>
            <a:r>
              <a:rPr lang="en-US" sz="1000" dirty="0" smtClean="0"/>
              <a:t>Keep it simple: If possible, use consistent, non-distracting styles and colors.</a:t>
            </a:r>
          </a:p>
          <a:p>
            <a:pPr lvl="0"/>
            <a:r>
              <a:rPr lang="en-US" sz="1000" dirty="0" smtClean="0"/>
              <a:t>Label all graphs and tables.</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5E0C3846-8D4C-4326-8BC7-9B455A036298}"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Duplicate this slide as necessary if there is more than one issue.</a:t>
            </a:r>
          </a:p>
          <a:p>
            <a:r>
              <a:rPr lang="en-US" dirty="0" smtClean="0"/>
              <a:t>This and related slides</a:t>
            </a:r>
            <a:r>
              <a:rPr lang="en-US" baseline="0" dirty="0" smtClean="0"/>
              <a:t> can be moved to the appendix or hidden if necessary.</a:t>
            </a:r>
            <a:endParaRPr lang="en-US" dirty="0"/>
          </a:p>
        </p:txBody>
      </p:sp>
      <p:sp>
        <p:nvSpPr>
          <p:cNvPr id="4" name="Slide Number Placeholder 3"/>
          <p:cNvSpPr>
            <a:spLocks noGrp="1"/>
          </p:cNvSpPr>
          <p:nvPr>
            <p:ph type="sldNum" sz="quarter" idx="10"/>
          </p:nvPr>
        </p:nvSpPr>
        <p:spPr/>
        <p:txBody>
          <a:bodyPr/>
          <a:lstStyle/>
          <a:p>
            <a:fld id="{5E0C3846-8D4C-4326-8BC7-9B455A036298}" type="slidenum">
              <a:rPr lang="en-US" smtClean="0"/>
              <a:pPr/>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jpeg"/><Relationship Id="rId4" Type="http://schemas.openxmlformats.org/officeDocument/2006/relationships/image" Target="../media/image4.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733203"/>
            <a:ext cx="9144000" cy="6124797"/>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477000" y="1295400"/>
            <a:ext cx="901373" cy="901373"/>
          </a:xfrm>
          <a:prstGeom prst="ellipse">
            <a:avLst/>
          </a:prstGeom>
          <a:ln>
            <a:noFill/>
          </a:ln>
          <a:effectLst>
            <a:outerShdw blurRad="292100" dist="76200" dir="2700000" algn="tl" rotWithShape="0">
              <a:srgbClr val="333333">
                <a:alpha val="50000"/>
              </a:srgbClr>
            </a:outerShdw>
          </a:effectLst>
        </p:spPr>
      </p:pic>
      <p:pic>
        <p:nvPicPr>
          <p:cNvPr id="9" name="Picture 8"/>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5791200" y="1905000"/>
            <a:ext cx="1240461" cy="1240461"/>
          </a:xfrm>
          <a:prstGeom prst="ellipse">
            <a:avLst/>
          </a:prstGeom>
          <a:ln>
            <a:noFill/>
          </a:ln>
          <a:effectLst>
            <a:outerShdw blurRad="292100" dist="76200" dir="2700000" algn="tl" rotWithShape="0">
              <a:srgbClr val="333333">
                <a:alpha val="50000"/>
              </a:srgbClr>
            </a:outerShdw>
          </a:effectLst>
        </p:spPr>
      </p:pic>
      <p:pic>
        <p:nvPicPr>
          <p:cNvPr id="10" name="Picture 9"/>
          <p:cNvPicPr>
            <a:picLocks noChangeAspect="1"/>
          </p:cNvPicPr>
          <p:nvPr userDrawn="1"/>
        </p:nvPicPr>
        <p:blipFill rotWithShape="1">
          <a:blip r:embed="rId5" cstate="email">
            <a:extLst>
              <a:ext uri="{28A0092B-C50C-407E-A947-70E740481C1C}">
                <a14:useLocalDpi xmlns:a14="http://schemas.microsoft.com/office/drawing/2010/main"/>
              </a:ext>
            </a:extLst>
          </a:blip>
          <a:srcRect/>
          <a:stretch/>
        </p:blipFill>
        <p:spPr>
          <a:xfrm>
            <a:off x="6705600" y="2209800"/>
            <a:ext cx="1828800" cy="1828800"/>
          </a:xfrm>
          <a:prstGeom prst="ellipse">
            <a:avLst/>
          </a:prstGeom>
          <a:ln>
            <a:noFill/>
          </a:ln>
          <a:effectLst>
            <a:outerShdw blurRad="292100" dist="76200" dir="2700000" algn="tl" rotWithShape="0">
              <a:srgbClr val="333333">
                <a:alpha val="50000"/>
              </a:srgbClr>
            </a:outerShdw>
          </a:effectLst>
        </p:spPr>
      </p:pic>
      <p:sp>
        <p:nvSpPr>
          <p:cNvPr id="2" name="Title 1"/>
          <p:cNvSpPr>
            <a:spLocks noGrp="1"/>
          </p:cNvSpPr>
          <p:nvPr>
            <p:ph type="ctrTitle"/>
          </p:nvPr>
        </p:nvSpPr>
        <p:spPr>
          <a:xfrm>
            <a:off x="381000" y="381001"/>
            <a:ext cx="7772400" cy="761999"/>
          </a:xfrm>
        </p:spPr>
        <p:txBody>
          <a:bodyPr anchor="t"/>
          <a:lstStyle>
            <a:lvl1pPr algn="l">
              <a:defRPr>
                <a:latin typeface="Georgia" pitchFamily="18" charset="0"/>
              </a:defRPr>
            </a:lvl1pPr>
          </a:lstStyle>
          <a:p>
            <a:r>
              <a:rPr lang="en-US" smtClean="0"/>
              <a:t>Click to edit Master title style</a:t>
            </a:r>
            <a:endParaRPr lang="en-US" dirty="0"/>
          </a:p>
        </p:txBody>
      </p:sp>
      <p:sp>
        <p:nvSpPr>
          <p:cNvPr id="3" name="Subtitle 2"/>
          <p:cNvSpPr>
            <a:spLocks noGrp="1"/>
          </p:cNvSpPr>
          <p:nvPr>
            <p:ph type="subTitle" idx="1" hasCustomPrompt="1"/>
          </p:nvPr>
        </p:nvSpPr>
        <p:spPr>
          <a:xfrm>
            <a:off x="439948" y="1219200"/>
            <a:ext cx="5275052" cy="1295400"/>
          </a:xfrm>
        </p:spPr>
        <p:txBody>
          <a:bodyPr>
            <a:normAutofit/>
          </a:bodyPr>
          <a:lstStyle>
            <a:lvl1pPr marL="0" indent="0" algn="l">
              <a:buNone/>
              <a:defRPr sz="1600" baseline="0">
                <a:solidFill>
                  <a:schemeClr val="tx1"/>
                </a:solidFill>
                <a:latin typeface="Georgia"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a:t>
            </a:r>
            <a:endParaRPr lang="en-US" dirty="0"/>
          </a:p>
        </p:txBody>
      </p:sp>
      <p:sp>
        <p:nvSpPr>
          <p:cNvPr id="4" name="Date Placeholder 3"/>
          <p:cNvSpPr>
            <a:spLocks noGrp="1"/>
          </p:cNvSpPr>
          <p:nvPr>
            <p:ph type="dt" sz="half" idx="10"/>
          </p:nvPr>
        </p:nvSpPr>
        <p:spPr/>
        <p:txBody>
          <a:bodyPr/>
          <a:lstStyle/>
          <a:p>
            <a:fld id="{F922158D-428B-4987-8B28-745A2AFA1252}"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withEffect">
                                  <p:stCondLst>
                                    <p:cond delay="0"/>
                                  </p:stCondLst>
                                  <p:iterate type="lt">
                                    <p:tmPct val="5000"/>
                                  </p:iterate>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par>
                                <p:cTn id="11" presetID="31" presetClass="entr" presetSubtype="0" fill="hold" nodeType="withEffect">
                                  <p:stCondLst>
                                    <p:cond delay="500"/>
                                  </p:stCondLst>
                                  <p:iterate type="lt">
                                    <p:tmPct val="5000"/>
                                  </p:iterate>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 calcmode="lin" valueType="num">
                                      <p:cBhvr>
                                        <p:cTn id="15" dur="1000" fill="hold"/>
                                        <p:tgtEl>
                                          <p:spTgt spid="9"/>
                                        </p:tgtEl>
                                        <p:attrNameLst>
                                          <p:attrName>style.rotation</p:attrName>
                                        </p:attrNameLst>
                                      </p:cBhvr>
                                      <p:tavLst>
                                        <p:tav tm="0">
                                          <p:val>
                                            <p:fltVal val="90"/>
                                          </p:val>
                                        </p:tav>
                                        <p:tav tm="100000">
                                          <p:val>
                                            <p:fltVal val="0"/>
                                          </p:val>
                                        </p:tav>
                                      </p:tavLst>
                                    </p:anim>
                                    <p:animEffect transition="in" filter="fade">
                                      <p:cBhvr>
                                        <p:cTn id="16" dur="1000"/>
                                        <p:tgtEl>
                                          <p:spTgt spid="9"/>
                                        </p:tgtEl>
                                      </p:cBhvr>
                                    </p:animEffect>
                                  </p:childTnLst>
                                </p:cTn>
                              </p:par>
                              <p:par>
                                <p:cTn id="17" presetID="31" presetClass="entr" presetSubtype="0" fill="hold" nodeType="withEffect">
                                  <p:stCondLst>
                                    <p:cond delay="1000"/>
                                  </p:stCondLst>
                                  <p:iterate type="lt">
                                    <p:tmPct val="5000"/>
                                  </p:iterate>
                                  <p:childTnLst>
                                    <p:set>
                                      <p:cBhvr>
                                        <p:cTn id="18" dur="1" fill="hold">
                                          <p:stCondLst>
                                            <p:cond delay="0"/>
                                          </p:stCondLst>
                                        </p:cTn>
                                        <p:tgtEl>
                                          <p:spTgt spid="10"/>
                                        </p:tgtEl>
                                        <p:attrNameLst>
                                          <p:attrName>style.visibility</p:attrName>
                                        </p:attrNameLst>
                                      </p:cBhvr>
                                      <p:to>
                                        <p:strVal val="visible"/>
                                      </p:to>
                                    </p:set>
                                    <p:anim calcmode="lin" valueType="num">
                                      <p:cBhvr>
                                        <p:cTn id="19" dur="1000" fill="hold"/>
                                        <p:tgtEl>
                                          <p:spTgt spid="10"/>
                                        </p:tgtEl>
                                        <p:attrNameLst>
                                          <p:attrName>ppt_w</p:attrName>
                                        </p:attrNameLst>
                                      </p:cBhvr>
                                      <p:tavLst>
                                        <p:tav tm="0">
                                          <p:val>
                                            <p:fltVal val="0"/>
                                          </p:val>
                                        </p:tav>
                                        <p:tav tm="100000">
                                          <p:val>
                                            <p:strVal val="#ppt_w"/>
                                          </p:val>
                                        </p:tav>
                                      </p:tavLst>
                                    </p:anim>
                                    <p:anim calcmode="lin" valueType="num">
                                      <p:cBhvr>
                                        <p:cTn id="20" dur="1000" fill="hold"/>
                                        <p:tgtEl>
                                          <p:spTgt spid="10"/>
                                        </p:tgtEl>
                                        <p:attrNameLst>
                                          <p:attrName>ppt_h</p:attrName>
                                        </p:attrNameLst>
                                      </p:cBhvr>
                                      <p:tavLst>
                                        <p:tav tm="0">
                                          <p:val>
                                            <p:fltVal val="0"/>
                                          </p:val>
                                        </p:tav>
                                        <p:tav tm="100000">
                                          <p:val>
                                            <p:strVal val="#ppt_h"/>
                                          </p:val>
                                        </p:tav>
                                      </p:tavLst>
                                    </p:anim>
                                    <p:anim calcmode="lin" valueType="num">
                                      <p:cBhvr>
                                        <p:cTn id="21" dur="1000" fill="hold"/>
                                        <p:tgtEl>
                                          <p:spTgt spid="10"/>
                                        </p:tgtEl>
                                        <p:attrNameLst>
                                          <p:attrName>style.rotation</p:attrName>
                                        </p:attrNameLst>
                                      </p:cBhvr>
                                      <p:tavLst>
                                        <p:tav tm="0">
                                          <p:val>
                                            <p:fltVal val="90"/>
                                          </p:val>
                                        </p:tav>
                                        <p:tav tm="100000">
                                          <p:val>
                                            <p:fltVal val="0"/>
                                          </p:val>
                                        </p:tav>
                                      </p:tavLst>
                                    </p:anim>
                                    <p:animEffect transition="in" filter="fade">
                                      <p:cBhvr>
                                        <p:cTn id="22" dur="1000"/>
                                        <p:tgtEl>
                                          <p:spTgt spid="10"/>
                                        </p:tgtEl>
                                      </p:cBhvr>
                                    </p:animEffect>
                                  </p:childTnLst>
                                </p:cTn>
                              </p:par>
                            </p:childTnLst>
                          </p:cTn>
                        </p:par>
                        <p:par>
                          <p:cTn id="23" fill="hold">
                            <p:stCondLst>
                              <p:cond delay="2000"/>
                            </p:stCondLst>
                            <p:childTnLst>
                              <p:par>
                                <p:cTn id="24" presetID="10"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srcRect l="-92" t="50811" r="45394" b="-590"/>
          <a:stretch/>
        </p:blipFill>
        <p:spPr>
          <a:xfrm>
            <a:off x="-13648" y="0"/>
            <a:ext cx="9157648" cy="5582272"/>
          </a:xfrm>
          <a:prstGeom prst="rect">
            <a:avLst/>
          </a:prstGeom>
        </p:spPr>
      </p:pic>
      <p:pic>
        <p:nvPicPr>
          <p:cNvPr id="8" name="Picture 7"/>
          <p:cNvPicPr>
            <a:picLocks noChangeAspect="1"/>
          </p:cNvPicPr>
          <p:nvPr userDrawn="1"/>
        </p:nvPicPr>
        <p:blipFill rotWithShape="1">
          <a:blip r:embed="rId3" cstate="email">
            <a:extLst>
              <a:ext uri="{28A0092B-C50C-407E-A947-70E740481C1C}">
                <a14:useLocalDpi xmlns:a14="http://schemas.microsoft.com/office/drawing/2010/main"/>
              </a:ext>
            </a:extLst>
          </a:blip>
          <a:srcRect/>
          <a:stretch/>
        </p:blipFill>
        <p:spPr>
          <a:xfrm>
            <a:off x="685800" y="1066799"/>
            <a:ext cx="1979920" cy="2013807"/>
          </a:xfrm>
          <a:prstGeom prst="ellipse">
            <a:avLst/>
          </a:prstGeom>
          <a:ln>
            <a:noFill/>
          </a:ln>
          <a:effectLst>
            <a:outerShdw blurRad="292100" dist="139700" dir="2700000" algn="tl" rotWithShape="0">
              <a:srgbClr val="333333">
                <a:alpha val="65000"/>
              </a:srgbClr>
            </a:outerShdw>
          </a:effectLst>
        </p:spPr>
      </p:pic>
      <p:sp>
        <p:nvSpPr>
          <p:cNvPr id="2" name="Title 1"/>
          <p:cNvSpPr>
            <a:spLocks noGrp="1"/>
          </p:cNvSpPr>
          <p:nvPr>
            <p:ph type="title" hasCustomPrompt="1"/>
          </p:nvPr>
        </p:nvSpPr>
        <p:spPr>
          <a:xfrm>
            <a:off x="3768304" y="1905000"/>
            <a:ext cx="5105400" cy="1143001"/>
          </a:xfrm>
        </p:spPr>
        <p:txBody>
          <a:bodyPr anchor="b" anchorCtr="0">
            <a:normAutofit/>
          </a:bodyPr>
          <a:lstStyle>
            <a:lvl1pPr algn="l">
              <a:defRPr sz="3600" b="0" cap="none">
                <a:latin typeface="Georgia" pitchFamily="18" charset="0"/>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3810000" y="3048000"/>
            <a:ext cx="5105400" cy="1500187"/>
          </a:xfrm>
        </p:spPr>
        <p:txBody>
          <a:bodyPr anchor="t"/>
          <a:lstStyle>
            <a:lvl1pPr marL="0" indent="0">
              <a:buNone/>
              <a:defRPr sz="2000">
                <a:solidFill>
                  <a:schemeClr val="tx1"/>
                </a:solidFill>
                <a:latin typeface="Georgia" pitchFamily="18"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922158D-428B-4987-8B28-745A2AFA1252}"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nodeType="afterEffect">
                                  <p:stCondLst>
                                    <p:cond delay="0"/>
                                  </p:stCondLst>
                                  <p:iterate type="lt">
                                    <p:tmPct val="5000"/>
                                  </p:iterate>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par>
                          <p:cTn id="11" fill="hold">
                            <p:stCondLst>
                              <p:cond delay="1000"/>
                            </p:stCondLst>
                            <p:childTnLst>
                              <p:par>
                                <p:cTn id="12" presetID="22" presetClass="entr" presetSubtype="8"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914400"/>
          </a:xfrm>
        </p:spPr>
        <p:txBody>
          <a:bodyPr anchor="t">
            <a:normAutofit/>
          </a:bodyPr>
          <a:lstStyle>
            <a:lvl1pPr algn="l">
              <a:defRPr sz="2800">
                <a:latin typeface="Georgia" pitchFamily="18" charset="0"/>
              </a:defRPr>
            </a:lvl1p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marL="342900" indent="-342900">
              <a:lnSpc>
                <a:spcPct val="150000"/>
              </a:lnSpc>
              <a:spcBef>
                <a:spcPts val="0"/>
              </a:spcBef>
              <a:buSzPct val="130000"/>
              <a:buFont typeface="Arial" pitchFamily="34" charset="0"/>
              <a:buChar char="•"/>
              <a:defRPr sz="2000">
                <a:latin typeface="Georgia" pitchFamily="18" charset="0"/>
              </a:defRPr>
            </a:lvl1pPr>
            <a:lvl2pPr marL="571500" indent="-228600">
              <a:lnSpc>
                <a:spcPct val="150000"/>
              </a:lnSpc>
              <a:spcBef>
                <a:spcPts val="0"/>
              </a:spcBef>
              <a:buSzPct val="60000"/>
              <a:buFont typeface="Courier New" pitchFamily="49" charset="0"/>
              <a:buChar char="o"/>
              <a:defRPr sz="1800">
                <a:latin typeface="Georgia" pitchFamily="18" charset="0"/>
              </a:defRPr>
            </a:lvl2pPr>
            <a:lvl3pPr>
              <a:defRPr sz="2000">
                <a:latin typeface="Georgia" pitchFamily="18" charset="0"/>
              </a:defRPr>
            </a:lvl3pPr>
            <a:lvl4pPr>
              <a:defRPr sz="2000">
                <a:latin typeface="Georgia" pitchFamily="18" charset="0"/>
              </a:defRPr>
            </a:lvl4pPr>
            <a:lvl5pPr>
              <a:defRPr sz="2000">
                <a:latin typeface="Georgia" pitchFamily="18"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F922158D-428B-4987-8B28-745A2AFA1252}"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p:transition spd="slow">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457200" y="1828800"/>
            <a:ext cx="4038600" cy="42973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828800"/>
            <a:ext cx="4038600" cy="4297363"/>
          </a:xfrm>
        </p:spPr>
        <p:txBody>
          <a:bodyPr>
            <a:normAutofit/>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922158D-428B-4987-8B28-745A2AFA1252}"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p:transition spd="slow">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6096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normAutofit/>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922158D-428B-4987-8B28-745A2AFA1252}"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p:transition spd="slow">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normAutofit/>
          </a:bodyPr>
          <a:lstStyle>
            <a:lvl1pPr>
              <a:defRPr sz="2800"/>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922158D-428B-4987-8B28-745A2AFA1252}"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p:transition spd="slow">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22158D-428B-4987-8B28-745A2AFA1252}" type="datetimeFigureOut">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p:transition spd="slow">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3008313" cy="76200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914400"/>
            <a:ext cx="5111750" cy="5211763"/>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1752600"/>
            <a:ext cx="3008313" cy="43735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22158D-428B-4987-8B28-745A2AFA1252}"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p:transition spd="slow">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22158D-428B-4987-8B28-745A2AFA1252}"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p:transition spd="slow">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22158D-428B-4987-8B28-745A2AFA1252}"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p:transition spd="slow">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0"/>
            <a:ext cx="2057400" cy="5211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914400"/>
            <a:ext cx="6019800" cy="5211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922158D-428B-4987-8B28-745A2AFA1252}"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FC477-0A05-4F3E-8EE9-E015C9089D56}" type="slidenum">
              <a:rPr lang="en-US" smtClean="0"/>
              <a:t>‹#›</a:t>
            </a:fld>
            <a:endParaRPr lang="en-US"/>
          </a:p>
        </p:txBody>
      </p:sp>
    </p:spTree>
  </p:cSld>
  <p:clrMapOvr>
    <a:masterClrMapping/>
  </p:clrMapOvr>
  <p:transition spd="slow">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914400"/>
            <a:ext cx="8229600" cy="914400"/>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828800"/>
            <a:ext cx="8229600" cy="42973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922158D-428B-4987-8B28-745A2AFA1252}" type="datetimeFigureOut">
              <a:rPr lang="en-US" smtClean="0"/>
              <a:t>11/11/2025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5FC477-0A05-4F3E-8EE9-E015C9089D56}" type="slidenum">
              <a:rPr lang="en-US" smtClean="0"/>
              <a:t>‹#›</a:t>
            </a:fld>
            <a:endParaRPr lang="en-US"/>
          </a:p>
        </p:txBody>
      </p:sp>
      <p:pic>
        <p:nvPicPr>
          <p:cNvPr id="7" name="Picture 6"/>
          <p:cNvPicPr>
            <a:picLocks noChangeAspect="1"/>
          </p:cNvPicPr>
          <p:nvPr/>
        </p:nvPicPr>
        <p:blipFill rotWithShape="1">
          <a:blip r:embed="rId13" cstate="email">
            <a:extLst>
              <a:ext uri="{28A0092B-C50C-407E-A947-70E740481C1C}">
                <a14:useLocalDpi xmlns:a14="http://schemas.microsoft.com/office/drawing/2010/main"/>
              </a:ext>
            </a:extLst>
          </a:blip>
          <a:srcRect l="-144"/>
          <a:stretch/>
        </p:blipFill>
        <p:spPr>
          <a:xfrm>
            <a:off x="-13251" y="0"/>
            <a:ext cx="9157252" cy="66044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1"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fade/>
  </p:transition>
  <p:timing>
    <p:tnLst>
      <p:par>
        <p:cTn id="1" dur="indefinite" restart="never" nodeType="tmRoot"/>
      </p:par>
    </p:tnLst>
  </p:timing>
  <p:txStyles>
    <p:titleStyle>
      <a:lvl1pPr algn="l" defTabSz="914400" rtl="0" eaLnBrk="1" latinLnBrk="0" hangingPunct="1">
        <a:spcBef>
          <a:spcPct val="0"/>
        </a:spcBef>
        <a:buNone/>
        <a:defRPr sz="28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8.jpe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tags" Target="../tags/tag6.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tags" Target="../tags/tag1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tags" Target="../tags/tag12.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xml"/><Relationship Id="rId1" Type="http://schemas.openxmlformats.org/officeDocument/2006/relationships/tags" Target="../tags/tag13.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tags" Target="../tags/tag14.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2"/>
            </p:custDataLst>
          </p:nvPr>
        </p:nvSpPr>
        <p:spPr/>
        <p:txBody>
          <a:bodyPr/>
          <a:lstStyle/>
          <a:p>
            <a:r>
              <a:rPr lang="en-US" dirty="0" smtClean="0"/>
              <a:t>Presentation on Java Programming (IT207G)</a:t>
            </a:r>
            <a:endParaRPr lang="en-US" dirty="0"/>
          </a:p>
        </p:txBody>
      </p:sp>
      <p:sp>
        <p:nvSpPr>
          <p:cNvPr id="3" name="Subtitle 2"/>
          <p:cNvSpPr>
            <a:spLocks noGrp="1"/>
          </p:cNvSpPr>
          <p:nvPr>
            <p:ph type="subTitle" idx="1"/>
            <p:custDataLst>
              <p:tags r:id="rId3"/>
            </p:custDataLst>
          </p:nvPr>
        </p:nvSpPr>
        <p:spPr/>
        <p:txBody>
          <a:bodyPr>
            <a:normAutofit/>
          </a:bodyPr>
          <a:lstStyle/>
          <a:p>
            <a:r>
              <a:rPr lang="en-US" sz="3200" dirty="0" smtClean="0">
                <a:solidFill>
                  <a:srgbClr val="C00000"/>
                </a:solidFill>
              </a:rPr>
              <a:t>UNIT No. V- 1</a:t>
            </a:r>
            <a:endParaRPr lang="en-US" sz="3200" dirty="0">
              <a:solidFill>
                <a:srgbClr val="C00000"/>
              </a:solidFill>
            </a:endParaRPr>
          </a:p>
        </p:txBody>
      </p:sp>
      <p:pic>
        <p:nvPicPr>
          <p:cNvPr id="1026" name="Picture 2" descr="C:\Users\!TDEPT\Desktop\Java AIML\6.jpe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912" y="1196753"/>
            <a:ext cx="4968552" cy="309634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207" y="468401"/>
            <a:ext cx="8229600" cy="914400"/>
          </a:xfrm>
        </p:spPr>
        <p:txBody>
          <a:bodyPr>
            <a:normAutofit fontScale="90000"/>
          </a:bodyPr>
          <a:lstStyle/>
          <a:p>
            <a:pPr algn="ctr"/>
            <a:r>
              <a:rPr lang="en-IN" sz="3200" b="1" u="sng" dirty="0">
                <a:solidFill>
                  <a:srgbClr val="0070C0"/>
                </a:solidFill>
              </a:rPr>
              <a:t>Java Applet</a:t>
            </a:r>
            <a:r>
              <a:rPr lang="en-IN" sz="3200" dirty="0"/>
              <a:t/>
            </a:r>
            <a:br>
              <a:rPr lang="en-IN" sz="3200" dirty="0"/>
            </a:br>
            <a:r>
              <a:rPr lang="en-IN" sz="3200" b="1" u="sng" dirty="0">
                <a:solidFill>
                  <a:srgbClr val="0070C0"/>
                </a:solidFill>
              </a:rPr>
              <a:t/>
            </a:r>
            <a:br>
              <a:rPr lang="en-IN" sz="3200" b="1" u="sng" dirty="0">
                <a:solidFill>
                  <a:srgbClr val="0070C0"/>
                </a:solidFill>
              </a:rPr>
            </a:br>
            <a:r>
              <a:rPr lang="en-IN" b="1" dirty="0">
                <a:solidFill>
                  <a:srgbClr val="7030A0"/>
                </a:solidFill>
              </a:rPr>
              <a:t/>
            </a:r>
            <a:br>
              <a:rPr lang="en-IN" b="1" dirty="0">
                <a:solidFill>
                  <a:srgbClr val="7030A0"/>
                </a:solidFill>
              </a:rPr>
            </a:br>
            <a:r>
              <a:rPr lang="en-IN" b="1" dirty="0">
                <a:solidFill>
                  <a:srgbClr val="7030A0"/>
                </a:solidFill>
              </a:rPr>
              <a:t/>
            </a:r>
            <a:br>
              <a:rPr lang="en-IN" b="1" dirty="0">
                <a:solidFill>
                  <a:srgbClr val="7030A0"/>
                </a:solidFill>
              </a:rPr>
            </a:br>
            <a:endParaRPr lang="en-IN" b="1" dirty="0">
              <a:solidFill>
                <a:srgbClr val="7030A0"/>
              </a:solidFill>
            </a:endParaRPr>
          </a:p>
        </p:txBody>
      </p:sp>
      <p:sp>
        <p:nvSpPr>
          <p:cNvPr id="3" name="Rectangle 2"/>
          <p:cNvSpPr/>
          <p:nvPr/>
        </p:nvSpPr>
        <p:spPr>
          <a:xfrm>
            <a:off x="349535" y="1143359"/>
            <a:ext cx="8542943" cy="4924425"/>
          </a:xfrm>
          <a:prstGeom prst="rect">
            <a:avLst/>
          </a:prstGeom>
        </p:spPr>
        <p:txBody>
          <a:bodyPr wrap="square">
            <a:spAutoFit/>
          </a:bodyPr>
          <a:lstStyle/>
          <a:p>
            <a:pPr marL="342900" indent="-342900" algn="just">
              <a:buFont typeface="Wingdings" pitchFamily="2" charset="2"/>
              <a:buChar char="Ø"/>
            </a:pPr>
            <a:r>
              <a:rPr lang="en-US" sz="2000" dirty="0"/>
              <a:t>An </a:t>
            </a:r>
            <a:r>
              <a:rPr lang="en-US" sz="2000" b="1" dirty="0"/>
              <a:t>applet</a:t>
            </a:r>
            <a:r>
              <a:rPr lang="en-US" sz="2000" dirty="0"/>
              <a:t> is a Java program that runs in a Web browser. An applet can be a fully functional Java application because it has the entire Java API at its disposal.</a:t>
            </a:r>
            <a:r>
              <a:rPr lang="en-US" sz="2000" dirty="0" smtClean="0"/>
              <a:t>.</a:t>
            </a:r>
          </a:p>
          <a:p>
            <a:pPr marL="342900" indent="-342900" algn="just">
              <a:buFont typeface="Wingdings" pitchFamily="2" charset="2"/>
              <a:buChar char="Ø"/>
            </a:pPr>
            <a:endParaRPr lang="en-US" sz="2000" dirty="0"/>
          </a:p>
          <a:p>
            <a:pPr marL="342900" indent="-342900" algn="just">
              <a:buFont typeface="Wingdings" pitchFamily="2" charset="2"/>
              <a:buChar char="Ø"/>
            </a:pPr>
            <a:r>
              <a:rPr lang="en-US" sz="2000" dirty="0"/>
              <a:t>An applet is a special kind of Java program that </a:t>
            </a:r>
            <a:r>
              <a:rPr lang="en-US" sz="2000" dirty="0">
                <a:solidFill>
                  <a:srgbClr val="C00000"/>
                </a:solidFill>
              </a:rPr>
              <a:t>runs in a Java enabled browser.</a:t>
            </a:r>
            <a:r>
              <a:rPr lang="en-US" sz="2000" dirty="0" smtClean="0">
                <a:solidFill>
                  <a:srgbClr val="C00000"/>
                </a:solidFill>
              </a:rPr>
              <a:t>.</a:t>
            </a:r>
          </a:p>
          <a:p>
            <a:pPr marL="342900" indent="-342900" algn="just">
              <a:buFont typeface="Wingdings" pitchFamily="2" charset="2"/>
              <a:buChar char="Ø"/>
            </a:pPr>
            <a:endParaRPr lang="en-US" sz="2000" dirty="0"/>
          </a:p>
          <a:p>
            <a:pPr marL="342900" indent="-342900" algn="just">
              <a:buFont typeface="Wingdings" pitchFamily="2" charset="2"/>
              <a:buChar char="Ø"/>
            </a:pPr>
            <a:r>
              <a:rPr lang="en-US" sz="2000" dirty="0"/>
              <a:t>In other words, we can say that Applets are small Java applications that can be accessed on an Internet server, transported over Internet, and can be automatically installed and run as apart of a web document</a:t>
            </a:r>
            <a:r>
              <a:rPr lang="en-US" sz="2000" dirty="0" smtClean="0"/>
              <a:t>.</a:t>
            </a:r>
          </a:p>
          <a:p>
            <a:pPr marL="342900" indent="-342900" algn="just">
              <a:buFont typeface="Wingdings" pitchFamily="2" charset="2"/>
              <a:buChar char="Ø"/>
            </a:pPr>
            <a:endParaRPr lang="en-US" sz="2000" dirty="0" smtClean="0"/>
          </a:p>
          <a:p>
            <a:pPr marL="342900" indent="-342900" algn="just">
              <a:buFont typeface="Wingdings" pitchFamily="2" charset="2"/>
              <a:buChar char="Ø"/>
            </a:pPr>
            <a:r>
              <a:rPr lang="en-US" sz="2000" dirty="0"/>
              <a:t>To create an applet, a class must class extends </a:t>
            </a:r>
            <a:r>
              <a:rPr lang="en-US" sz="2000" b="1" dirty="0" err="1"/>
              <a:t>java.applet.Applet</a:t>
            </a:r>
            <a:r>
              <a:rPr lang="en-US" sz="2000" dirty="0"/>
              <a:t> class</a:t>
            </a:r>
            <a:r>
              <a:rPr lang="en-US" sz="2000" dirty="0" smtClean="0"/>
              <a:t>.</a:t>
            </a:r>
            <a:endParaRPr lang="en-US" sz="2000" dirty="0"/>
          </a:p>
          <a:p>
            <a:pPr algn="just">
              <a:lnSpc>
                <a:spcPct val="150000"/>
              </a:lnSpc>
            </a:pPr>
            <a:endParaRPr lang="en-US" sz="2000" dirty="0" smtClean="0"/>
          </a:p>
          <a:p>
            <a:pPr algn="just"/>
            <a:endParaRPr lang="en-US" sz="2400" dirty="0"/>
          </a:p>
        </p:txBody>
      </p:sp>
    </p:spTree>
    <p:custDataLst>
      <p:tags r:id="rId1"/>
    </p:custDataLst>
    <p:extLst>
      <p:ext uri="{BB962C8B-B14F-4D97-AF65-F5344CB8AC3E}">
        <p14:creationId xmlns:p14="http://schemas.microsoft.com/office/powerpoint/2010/main" val="4182514605"/>
      </p:ext>
    </p:extLst>
  </p:cSld>
  <p:clrMapOvr>
    <a:masterClrMapping/>
  </p:clrMapOvr>
  <p:transition spd="slow">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206" y="548680"/>
            <a:ext cx="8229600" cy="914400"/>
          </a:xfrm>
        </p:spPr>
        <p:txBody>
          <a:bodyPr>
            <a:noAutofit/>
          </a:bodyPr>
          <a:lstStyle/>
          <a:p>
            <a:pPr algn="ctr"/>
            <a:r>
              <a:rPr lang="en-IN" sz="2400" b="1" u="sng" dirty="0" smtClean="0">
                <a:solidFill>
                  <a:srgbClr val="0070C0"/>
                </a:solidFill>
              </a:rPr>
              <a:t>Difference between Java Applet and Application</a:t>
            </a:r>
            <a:r>
              <a:rPr lang="en-IN" sz="2400" dirty="0"/>
              <a:t/>
            </a:r>
            <a:br>
              <a:rPr lang="en-IN" sz="2400" dirty="0"/>
            </a:br>
            <a:r>
              <a:rPr lang="en-IN" sz="2400" b="1" u="sng" dirty="0">
                <a:solidFill>
                  <a:srgbClr val="0070C0"/>
                </a:solidFill>
              </a:rPr>
              <a:t/>
            </a:r>
            <a:br>
              <a:rPr lang="en-IN" sz="2400" b="1" u="sng" dirty="0">
                <a:solidFill>
                  <a:srgbClr val="0070C0"/>
                </a:solidFill>
              </a:rPr>
            </a:br>
            <a:r>
              <a:rPr lang="en-IN" sz="2000" b="1" dirty="0">
                <a:solidFill>
                  <a:srgbClr val="7030A0"/>
                </a:solidFill>
              </a:rPr>
              <a:t/>
            </a:r>
            <a:br>
              <a:rPr lang="en-IN" sz="2000" b="1" dirty="0">
                <a:solidFill>
                  <a:srgbClr val="7030A0"/>
                </a:solidFill>
              </a:rPr>
            </a:br>
            <a:r>
              <a:rPr lang="en-IN" sz="2000" b="1" dirty="0">
                <a:solidFill>
                  <a:srgbClr val="7030A0"/>
                </a:solidFill>
              </a:rPr>
              <a:t/>
            </a:r>
            <a:br>
              <a:rPr lang="en-IN" sz="2000" b="1" dirty="0">
                <a:solidFill>
                  <a:srgbClr val="7030A0"/>
                </a:solidFill>
              </a:rPr>
            </a:br>
            <a:endParaRPr lang="en-IN" sz="2000" b="1" dirty="0">
              <a:solidFill>
                <a:srgbClr val="7030A0"/>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690282088"/>
              </p:ext>
            </p:extLst>
          </p:nvPr>
        </p:nvGraphicFramePr>
        <p:xfrm>
          <a:off x="107502" y="1124746"/>
          <a:ext cx="8928993" cy="5688630"/>
        </p:xfrm>
        <a:graphic>
          <a:graphicData uri="http://schemas.openxmlformats.org/drawingml/2006/table">
            <a:tbl>
              <a:tblPr/>
              <a:tblGrid>
                <a:gridCol w="1728194"/>
                <a:gridCol w="3312368"/>
                <a:gridCol w="3888431"/>
              </a:tblGrid>
              <a:tr h="237387">
                <a:tc>
                  <a:txBody>
                    <a:bodyPr/>
                    <a:lstStyle/>
                    <a:p>
                      <a:pPr algn="ctr" fontAlgn="t"/>
                      <a:r>
                        <a:rPr lang="en-IN" sz="2000">
                          <a:solidFill>
                            <a:srgbClr val="000000"/>
                          </a:solidFill>
                          <a:effectLst/>
                          <a:latin typeface="times new roman"/>
                        </a:rPr>
                        <a:t>Parameters</a:t>
                      </a:r>
                    </a:p>
                  </a:txBody>
                  <a:tcPr marL="40439" marR="40439" marT="40439" marB="40439">
                    <a:lnL w="9525" cap="flat" cmpd="sng" algn="ctr">
                      <a:solidFill>
                        <a:srgbClr val="305FDA"/>
                      </a:solidFill>
                      <a:prstDash val="solid"/>
                      <a:round/>
                      <a:headEnd type="none" w="med" len="med"/>
                      <a:tailEnd type="none" w="med" len="med"/>
                    </a:lnL>
                    <a:lnR w="9525" cap="flat" cmpd="sng" algn="ctr">
                      <a:solidFill>
                        <a:srgbClr val="305FDA"/>
                      </a:solidFill>
                      <a:prstDash val="solid"/>
                      <a:round/>
                      <a:headEnd type="none" w="med" len="med"/>
                      <a:tailEnd type="none" w="med" len="med"/>
                    </a:lnR>
                    <a:lnT w="9525" cap="flat" cmpd="sng" algn="ctr">
                      <a:solidFill>
                        <a:srgbClr val="305FD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ctr" fontAlgn="t"/>
                      <a:r>
                        <a:rPr lang="en-IN" sz="2000">
                          <a:solidFill>
                            <a:srgbClr val="000000"/>
                          </a:solidFill>
                          <a:effectLst/>
                          <a:latin typeface="times new roman"/>
                        </a:rPr>
                        <a:t>Java Application</a:t>
                      </a:r>
                    </a:p>
                  </a:txBody>
                  <a:tcPr marL="40439" marR="40439" marT="40439" marB="40439">
                    <a:lnL w="9525" cap="flat" cmpd="sng" algn="ctr">
                      <a:solidFill>
                        <a:srgbClr val="305FDA"/>
                      </a:solidFill>
                      <a:prstDash val="solid"/>
                      <a:round/>
                      <a:headEnd type="none" w="med" len="med"/>
                      <a:tailEnd type="none" w="med" len="med"/>
                    </a:lnL>
                    <a:lnR w="9525" cap="flat" cmpd="sng" algn="ctr">
                      <a:solidFill>
                        <a:srgbClr val="305FDA"/>
                      </a:solidFill>
                      <a:prstDash val="solid"/>
                      <a:round/>
                      <a:headEnd type="none" w="med" len="med"/>
                      <a:tailEnd type="none" w="med" len="med"/>
                    </a:lnR>
                    <a:lnT w="9525" cap="flat" cmpd="sng" algn="ctr">
                      <a:solidFill>
                        <a:srgbClr val="305FD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c>
                  <a:txBody>
                    <a:bodyPr/>
                    <a:lstStyle/>
                    <a:p>
                      <a:pPr algn="ctr" fontAlgn="t"/>
                      <a:r>
                        <a:rPr lang="en-IN" sz="2000" dirty="0">
                          <a:solidFill>
                            <a:srgbClr val="000000"/>
                          </a:solidFill>
                          <a:effectLst/>
                          <a:latin typeface="times new roman"/>
                        </a:rPr>
                        <a:t>Java Applet</a:t>
                      </a:r>
                    </a:p>
                  </a:txBody>
                  <a:tcPr marL="40439" marR="40439" marT="40439" marB="40439">
                    <a:lnL w="9525" cap="flat" cmpd="sng" algn="ctr">
                      <a:solidFill>
                        <a:srgbClr val="305FDA"/>
                      </a:solidFill>
                      <a:prstDash val="solid"/>
                      <a:round/>
                      <a:headEnd type="none" w="med" len="med"/>
                      <a:tailEnd type="none" w="med" len="med"/>
                    </a:lnL>
                    <a:lnR w="9525" cap="flat" cmpd="sng" algn="ctr">
                      <a:solidFill>
                        <a:srgbClr val="305FDA"/>
                      </a:solidFill>
                      <a:prstDash val="solid"/>
                      <a:round/>
                      <a:headEnd type="none" w="med" len="med"/>
                      <a:tailEnd type="none" w="med" len="med"/>
                    </a:lnR>
                    <a:lnT w="9525" cap="flat" cmpd="sng" algn="ctr">
                      <a:solidFill>
                        <a:srgbClr val="305FDA"/>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C7CCBE"/>
                    </a:solidFill>
                  </a:tcPr>
                </a:tc>
              </a:tr>
              <a:tr h="1107806">
                <a:tc>
                  <a:txBody>
                    <a:bodyPr/>
                    <a:lstStyle/>
                    <a:p>
                      <a:pPr algn="ctr" fontAlgn="t"/>
                      <a:r>
                        <a:rPr lang="en-IN" sz="1800" b="1">
                          <a:solidFill>
                            <a:srgbClr val="333333"/>
                          </a:solidFill>
                          <a:effectLst/>
                          <a:latin typeface="inter-bold"/>
                        </a:rPr>
                        <a:t>Meaning</a:t>
                      </a:r>
                      <a:endParaRPr lang="en-IN" sz="1800">
                        <a:solidFill>
                          <a:srgbClr val="333333"/>
                        </a:solidFill>
                        <a:effectLst/>
                        <a:latin typeface="inter-regular"/>
                      </a:endParaRP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A Java Application also known as application program </a:t>
                      </a:r>
                      <a:r>
                        <a:rPr lang="en-US" sz="1800" dirty="0" smtClean="0">
                          <a:solidFill>
                            <a:srgbClr val="333333"/>
                          </a:solidFill>
                          <a:effectLst/>
                          <a:latin typeface="inter-regular"/>
                        </a:rPr>
                        <a:t>that </a:t>
                      </a:r>
                      <a:r>
                        <a:rPr lang="en-US" sz="1800" dirty="0">
                          <a:solidFill>
                            <a:srgbClr val="333333"/>
                          </a:solidFill>
                          <a:effectLst/>
                          <a:latin typeface="inter-regular"/>
                        </a:rPr>
                        <a:t>independently executes on the computer.</a:t>
                      </a: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c>
                  <a:txBody>
                    <a:bodyPr/>
                    <a:lstStyle/>
                    <a:p>
                      <a:pPr algn="just" fontAlgn="t"/>
                      <a:r>
                        <a:rPr lang="en-US" sz="1800" dirty="0">
                          <a:solidFill>
                            <a:srgbClr val="333333"/>
                          </a:solidFill>
                          <a:effectLst/>
                          <a:latin typeface="inter-regular"/>
                        </a:rPr>
                        <a:t>The Java applet works on the client side, and runs on the </a:t>
                      </a:r>
                      <a:r>
                        <a:rPr lang="en-US" sz="1800" dirty="0" smtClean="0">
                          <a:solidFill>
                            <a:srgbClr val="333333"/>
                          </a:solidFill>
                          <a:effectLst/>
                          <a:latin typeface="inter-regular"/>
                        </a:rPr>
                        <a:t>web browser.</a:t>
                      </a:r>
                      <a:endParaRPr lang="en-US" sz="1800" dirty="0">
                        <a:solidFill>
                          <a:srgbClr val="333333"/>
                        </a:solidFill>
                        <a:effectLst/>
                        <a:latin typeface="inter-regular"/>
                      </a:endParaRP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FFFFFF"/>
                    </a:solidFill>
                  </a:tcPr>
                </a:tc>
              </a:tr>
              <a:tr h="1199424">
                <a:tc>
                  <a:txBody>
                    <a:bodyPr/>
                    <a:lstStyle/>
                    <a:p>
                      <a:pPr algn="ctr" fontAlgn="t"/>
                      <a:r>
                        <a:rPr lang="en-IN" sz="1800" b="1">
                          <a:solidFill>
                            <a:srgbClr val="333333"/>
                          </a:solidFill>
                          <a:effectLst/>
                          <a:latin typeface="inter-bold"/>
                        </a:rPr>
                        <a:t>Requirement of main( ) method</a:t>
                      </a:r>
                      <a:endParaRPr lang="en-IN" sz="1800">
                        <a:solidFill>
                          <a:srgbClr val="333333"/>
                        </a:solidFill>
                        <a:effectLst/>
                        <a:latin typeface="inter-regular"/>
                      </a:endParaRP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Its execution starts with the main( ) method only. </a:t>
                      </a: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It does not require the use of any main() method. Java applet initializes </a:t>
                      </a:r>
                      <a:r>
                        <a:rPr lang="en-US" sz="1800" dirty="0">
                          <a:solidFill>
                            <a:srgbClr val="C00000"/>
                          </a:solidFill>
                          <a:effectLst/>
                          <a:latin typeface="inter-regular"/>
                        </a:rPr>
                        <a:t>through </a:t>
                      </a:r>
                      <a:r>
                        <a:rPr lang="en-US" sz="1800" dirty="0" err="1">
                          <a:solidFill>
                            <a:srgbClr val="C00000"/>
                          </a:solidFill>
                          <a:effectLst/>
                          <a:latin typeface="inter-regular"/>
                        </a:rPr>
                        <a:t>init</a:t>
                      </a:r>
                      <a:r>
                        <a:rPr lang="en-US" sz="1800" dirty="0">
                          <a:solidFill>
                            <a:srgbClr val="C00000"/>
                          </a:solidFill>
                          <a:effectLst/>
                          <a:latin typeface="inter-regular"/>
                        </a:rPr>
                        <a:t>( ) method.</a:t>
                      </a: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r h="1114632">
                <a:tc>
                  <a:txBody>
                    <a:bodyPr/>
                    <a:lstStyle/>
                    <a:p>
                      <a:pPr algn="ctr" fontAlgn="t"/>
                      <a:r>
                        <a:rPr lang="en-IN" sz="1800" b="1" dirty="0">
                          <a:solidFill>
                            <a:srgbClr val="333333"/>
                          </a:solidFill>
                          <a:effectLst/>
                          <a:latin typeface="inter-bold"/>
                        </a:rPr>
                        <a:t>Installation</a:t>
                      </a:r>
                      <a:endParaRPr lang="en-IN" sz="1800" dirty="0">
                        <a:solidFill>
                          <a:srgbClr val="333333"/>
                        </a:solidFill>
                        <a:effectLst/>
                        <a:latin typeface="inter-regular"/>
                      </a:endParaRP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We need to install the Java application first and obviously on the local computer.</a:t>
                      </a: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Java applet does not need to be pre-installed.</a:t>
                      </a: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r h="719354">
                <a:tc>
                  <a:txBody>
                    <a:bodyPr/>
                    <a:lstStyle/>
                    <a:p>
                      <a:pPr algn="ctr" fontAlgn="t"/>
                      <a:r>
                        <a:rPr lang="en-IN" sz="1800" b="1" dirty="0">
                          <a:solidFill>
                            <a:srgbClr val="333333"/>
                          </a:solidFill>
                          <a:effectLst/>
                          <a:latin typeface="inter-bold"/>
                        </a:rPr>
                        <a:t>Operation</a:t>
                      </a:r>
                      <a:endParaRPr lang="en-IN" sz="1800" dirty="0">
                        <a:solidFill>
                          <a:srgbClr val="333333"/>
                        </a:solidFill>
                        <a:effectLst/>
                        <a:latin typeface="inter-regular"/>
                      </a:endParaRP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It performs read and write tasks on a variety of files located on a local computer.</a:t>
                      </a: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It cannot run the applications on any local computer.</a:t>
                      </a: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r h="960816">
                <a:tc>
                  <a:txBody>
                    <a:bodyPr/>
                    <a:lstStyle/>
                    <a:p>
                      <a:pPr algn="ctr" fontAlgn="t"/>
                      <a:r>
                        <a:rPr lang="en-IN" sz="1800" b="1" dirty="0">
                          <a:solidFill>
                            <a:srgbClr val="333333"/>
                          </a:solidFill>
                          <a:effectLst/>
                          <a:latin typeface="inter-bold"/>
                        </a:rPr>
                        <a:t>Security</a:t>
                      </a:r>
                      <a:endParaRPr lang="en-IN" sz="1800" dirty="0">
                        <a:solidFill>
                          <a:srgbClr val="333333"/>
                        </a:solidFill>
                        <a:effectLst/>
                        <a:latin typeface="inter-regular"/>
                      </a:endParaRP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a:solidFill>
                            <a:srgbClr val="333333"/>
                          </a:solidFill>
                          <a:effectLst/>
                          <a:latin typeface="inter-regular"/>
                        </a:rPr>
                        <a:t>Java applications are pretty trusted, and thus, come with no security concerns.</a:t>
                      </a: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c>
                  <a:txBody>
                    <a:bodyPr/>
                    <a:lstStyle/>
                    <a:p>
                      <a:pPr algn="just" fontAlgn="t"/>
                      <a:r>
                        <a:rPr lang="en-US" sz="1800" dirty="0">
                          <a:solidFill>
                            <a:srgbClr val="333333"/>
                          </a:solidFill>
                          <a:effectLst/>
                          <a:latin typeface="inter-regular"/>
                        </a:rPr>
                        <a:t>Java applets are less reliable. So, they need to be safe.</a:t>
                      </a:r>
                    </a:p>
                  </a:txBody>
                  <a:tcPr marL="26960" marR="26960" marT="26960" marB="26960">
                    <a:lnL w="9525" cap="flat" cmpd="sng" algn="ctr">
                      <a:solidFill>
                        <a:srgbClr val="C7CCBE"/>
                      </a:solidFill>
                      <a:prstDash val="solid"/>
                      <a:round/>
                      <a:headEnd type="none" w="med" len="med"/>
                      <a:tailEnd type="none" w="med" len="med"/>
                    </a:lnL>
                    <a:lnR w="9525" cap="flat" cmpd="sng" algn="ctr">
                      <a:solidFill>
                        <a:srgbClr val="C7CCBE"/>
                      </a:solidFill>
                      <a:prstDash val="solid"/>
                      <a:round/>
                      <a:headEnd type="none" w="med" len="med"/>
                      <a:tailEnd type="none" w="med" len="med"/>
                    </a:lnR>
                    <a:lnT w="9525" cap="flat" cmpd="sng" algn="ctr">
                      <a:solidFill>
                        <a:srgbClr val="C7CCBE"/>
                      </a:solidFill>
                      <a:prstDash val="solid"/>
                      <a:round/>
                      <a:headEnd type="none" w="med" len="med"/>
                      <a:tailEnd type="none" w="med" len="med"/>
                    </a:lnT>
                    <a:lnB w="9525" cap="flat" cmpd="sng" algn="ctr">
                      <a:solidFill>
                        <a:srgbClr val="C7CCBE"/>
                      </a:solidFill>
                      <a:prstDash val="solid"/>
                      <a:round/>
                      <a:headEnd type="none" w="med" len="med"/>
                      <a:tailEnd type="none" w="med" len="med"/>
                    </a:lnB>
                    <a:solidFill>
                      <a:srgbClr val="EFF1EB"/>
                    </a:solidFill>
                  </a:tcPr>
                </a:tc>
              </a:tr>
            </a:tbl>
          </a:graphicData>
        </a:graphic>
      </p:graphicFrame>
    </p:spTree>
    <p:custDataLst>
      <p:tags r:id="rId1"/>
    </p:custDataLst>
    <p:extLst>
      <p:ext uri="{BB962C8B-B14F-4D97-AF65-F5344CB8AC3E}">
        <p14:creationId xmlns:p14="http://schemas.microsoft.com/office/powerpoint/2010/main" val="3453952525"/>
      </p:ext>
    </p:extLst>
  </p:cSld>
  <p:clrMapOvr>
    <a:masterClrMapping/>
  </p:clrMapOvr>
  <p:transition spd="slow">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206" y="548680"/>
            <a:ext cx="8229600" cy="914400"/>
          </a:xfrm>
        </p:spPr>
        <p:txBody>
          <a:bodyPr>
            <a:noAutofit/>
          </a:bodyPr>
          <a:lstStyle/>
          <a:p>
            <a:pPr algn="ctr"/>
            <a:r>
              <a:rPr lang="en-IN" sz="2400" b="1" u="sng" dirty="0" smtClean="0">
                <a:solidFill>
                  <a:srgbClr val="C00000"/>
                </a:solidFill>
              </a:rPr>
              <a:t> Applet Life Cycle</a:t>
            </a:r>
            <a:r>
              <a:rPr lang="en-IN" sz="2400" dirty="0"/>
              <a:t/>
            </a:r>
            <a:br>
              <a:rPr lang="en-IN" sz="2400" dirty="0"/>
            </a:br>
            <a:r>
              <a:rPr lang="en-IN" sz="2400" b="1" u="sng" dirty="0">
                <a:solidFill>
                  <a:srgbClr val="0070C0"/>
                </a:solidFill>
              </a:rPr>
              <a:t/>
            </a:r>
            <a:br>
              <a:rPr lang="en-IN" sz="2400" b="1" u="sng" dirty="0">
                <a:solidFill>
                  <a:srgbClr val="0070C0"/>
                </a:solidFill>
              </a:rPr>
            </a:br>
            <a:r>
              <a:rPr lang="en-IN" sz="2000" b="1" dirty="0">
                <a:solidFill>
                  <a:srgbClr val="7030A0"/>
                </a:solidFill>
              </a:rPr>
              <a:t/>
            </a:r>
            <a:br>
              <a:rPr lang="en-IN" sz="2000" b="1" dirty="0">
                <a:solidFill>
                  <a:srgbClr val="7030A0"/>
                </a:solidFill>
              </a:rPr>
            </a:br>
            <a:r>
              <a:rPr lang="en-IN" sz="2000" b="1" dirty="0">
                <a:solidFill>
                  <a:srgbClr val="7030A0"/>
                </a:solidFill>
              </a:rPr>
              <a:t/>
            </a:r>
            <a:br>
              <a:rPr lang="en-IN" sz="2000" b="1" dirty="0">
                <a:solidFill>
                  <a:srgbClr val="7030A0"/>
                </a:solidFill>
              </a:rPr>
            </a:br>
            <a:endParaRPr lang="en-IN" sz="2000" b="1" dirty="0">
              <a:solidFill>
                <a:srgbClr val="7030A0"/>
              </a:solidFill>
            </a:endParaRPr>
          </a:p>
        </p:txBody>
      </p:sp>
      <p:sp>
        <p:nvSpPr>
          <p:cNvPr id="3" name="AutoShape 2" descr="Applet Life Cycle in Java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Java Applet And Its Life Cycle – Its Java Hel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9" name="Picture 11" descr="applet-life-cycl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282" y="1412776"/>
            <a:ext cx="7696200" cy="411480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2783649334"/>
      </p:ext>
    </p:extLst>
  </p:cSld>
  <p:clrMapOvr>
    <a:masterClrMapping/>
  </p:clrMapOvr>
  <p:transition spd="slow">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6206" y="312738"/>
            <a:ext cx="8229600" cy="914400"/>
          </a:xfrm>
        </p:spPr>
        <p:txBody>
          <a:bodyPr>
            <a:noAutofit/>
          </a:bodyPr>
          <a:lstStyle/>
          <a:p>
            <a:pPr algn="ctr"/>
            <a:r>
              <a:rPr lang="en-IN" sz="2400" b="1" u="sng" dirty="0" smtClean="0">
                <a:solidFill>
                  <a:srgbClr val="C00000"/>
                </a:solidFill>
              </a:rPr>
              <a:t> Applet Life Cycle Methods</a:t>
            </a:r>
            <a:r>
              <a:rPr lang="en-IN" sz="2400" dirty="0"/>
              <a:t/>
            </a:r>
            <a:br>
              <a:rPr lang="en-IN" sz="2400" dirty="0"/>
            </a:br>
            <a:r>
              <a:rPr lang="en-IN" sz="2400" b="1" u="sng" dirty="0">
                <a:solidFill>
                  <a:srgbClr val="0070C0"/>
                </a:solidFill>
              </a:rPr>
              <a:t/>
            </a:r>
            <a:br>
              <a:rPr lang="en-IN" sz="2400" b="1" u="sng" dirty="0">
                <a:solidFill>
                  <a:srgbClr val="0070C0"/>
                </a:solidFill>
              </a:rPr>
            </a:br>
            <a:r>
              <a:rPr lang="en-IN" sz="2000" b="1" dirty="0">
                <a:solidFill>
                  <a:srgbClr val="7030A0"/>
                </a:solidFill>
              </a:rPr>
              <a:t/>
            </a:r>
            <a:br>
              <a:rPr lang="en-IN" sz="2000" b="1" dirty="0">
                <a:solidFill>
                  <a:srgbClr val="7030A0"/>
                </a:solidFill>
              </a:rPr>
            </a:br>
            <a:r>
              <a:rPr lang="en-IN" sz="2000" b="1" dirty="0">
                <a:solidFill>
                  <a:srgbClr val="7030A0"/>
                </a:solidFill>
              </a:rPr>
              <a:t/>
            </a:r>
            <a:br>
              <a:rPr lang="en-IN" sz="2000" b="1" dirty="0">
                <a:solidFill>
                  <a:srgbClr val="7030A0"/>
                </a:solidFill>
              </a:rPr>
            </a:br>
            <a:endParaRPr lang="en-IN" sz="2000" b="1" dirty="0">
              <a:solidFill>
                <a:srgbClr val="7030A0"/>
              </a:solidFill>
            </a:endParaRPr>
          </a:p>
        </p:txBody>
      </p:sp>
      <p:sp>
        <p:nvSpPr>
          <p:cNvPr id="3" name="AutoShape 2" descr="Applet Life Cycle in Java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Java Applet And Its Life Cycle – Its Java Hel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Rectangle 5"/>
          <p:cNvSpPr/>
          <p:nvPr/>
        </p:nvSpPr>
        <p:spPr>
          <a:xfrm>
            <a:off x="1" y="836712"/>
            <a:ext cx="8892478" cy="5940088"/>
          </a:xfrm>
          <a:prstGeom prst="rect">
            <a:avLst/>
          </a:prstGeom>
        </p:spPr>
        <p:txBody>
          <a:bodyPr wrap="square">
            <a:spAutoFit/>
          </a:bodyPr>
          <a:lstStyle/>
          <a:p>
            <a:pPr marL="342900" indent="-342900" algn="just">
              <a:buFont typeface="Wingdings" pitchFamily="2" charset="2"/>
              <a:buChar char="Ø"/>
            </a:pPr>
            <a:r>
              <a:rPr lang="en-US" sz="2000" dirty="0" smtClean="0"/>
              <a:t>Applet life cycle methods control the life of applet and they called automatically. It has 4 </a:t>
            </a:r>
            <a:r>
              <a:rPr lang="en-US" sz="2000" dirty="0"/>
              <a:t>life cycle methods and </a:t>
            </a:r>
            <a:r>
              <a:rPr lang="en-US" sz="2000" dirty="0" err="1"/>
              <a:t>java.awt.Component</a:t>
            </a:r>
            <a:r>
              <a:rPr lang="en-US" sz="2000" dirty="0"/>
              <a:t> class provides 1 life cycle methods for an applet.</a:t>
            </a:r>
            <a:endParaRPr lang="en-US" sz="2000" dirty="0" smtClean="0"/>
          </a:p>
          <a:p>
            <a:pPr marL="342900" indent="-342900" algn="just">
              <a:buFont typeface="Wingdings" pitchFamily="2" charset="2"/>
              <a:buChar char="Ø"/>
            </a:pPr>
            <a:endParaRPr lang="en-US" sz="2000" dirty="0"/>
          </a:p>
          <a:p>
            <a:pPr marL="457200" indent="-457200" algn="just">
              <a:buFont typeface="+mj-lt"/>
              <a:buAutoNum type="arabicPeriod"/>
            </a:pPr>
            <a:r>
              <a:rPr lang="en-US" sz="2000" b="1" dirty="0" err="1" smtClean="0">
                <a:solidFill>
                  <a:srgbClr val="C00000"/>
                </a:solidFill>
              </a:rPr>
              <a:t>pulic</a:t>
            </a:r>
            <a:r>
              <a:rPr lang="en-US" sz="2000" b="1" dirty="0" smtClean="0">
                <a:solidFill>
                  <a:srgbClr val="C00000"/>
                </a:solidFill>
              </a:rPr>
              <a:t> void </a:t>
            </a:r>
            <a:r>
              <a:rPr lang="en-US" sz="2000" b="1" dirty="0" err="1" smtClean="0">
                <a:solidFill>
                  <a:srgbClr val="C00000"/>
                </a:solidFill>
              </a:rPr>
              <a:t>init</a:t>
            </a:r>
            <a:r>
              <a:rPr lang="en-US" sz="2000" b="1" dirty="0">
                <a:solidFill>
                  <a:srgbClr val="C00000"/>
                </a:solidFill>
              </a:rPr>
              <a:t>():</a:t>
            </a:r>
            <a:r>
              <a:rPr lang="en-US" sz="2000" dirty="0"/>
              <a:t> This method is called when the applet is first initialized. It is typically used for applet initialization tasks such as initializing </a:t>
            </a:r>
            <a:r>
              <a:rPr lang="en-US" sz="2000" dirty="0" smtClean="0"/>
              <a:t>the </a:t>
            </a:r>
            <a:r>
              <a:rPr lang="en-US" sz="2000" dirty="0"/>
              <a:t>applet. </a:t>
            </a:r>
            <a:endParaRPr lang="en-US" sz="2000" dirty="0" smtClean="0"/>
          </a:p>
          <a:p>
            <a:pPr marL="457200" indent="-457200" algn="just">
              <a:buFont typeface="+mj-lt"/>
              <a:buAutoNum type="arabicPeriod"/>
            </a:pPr>
            <a:endParaRPr lang="en-US" sz="2000" dirty="0" smtClean="0"/>
          </a:p>
          <a:p>
            <a:pPr marL="457200" indent="-457200">
              <a:buFont typeface="+mj-lt"/>
              <a:buAutoNum type="arabicPeriod"/>
            </a:pPr>
            <a:r>
              <a:rPr lang="en-US" sz="2000" b="1" dirty="0">
                <a:solidFill>
                  <a:srgbClr val="C00000"/>
                </a:solidFill>
              </a:rPr>
              <a:t>p</a:t>
            </a:r>
            <a:r>
              <a:rPr lang="en-US" sz="2000" b="1" dirty="0" smtClean="0">
                <a:solidFill>
                  <a:srgbClr val="C00000"/>
                </a:solidFill>
              </a:rPr>
              <a:t>ublic void start</a:t>
            </a:r>
            <a:r>
              <a:rPr lang="en-US" sz="2000" b="1" dirty="0">
                <a:solidFill>
                  <a:srgbClr val="C00000"/>
                </a:solidFill>
              </a:rPr>
              <a:t>()</a:t>
            </a:r>
            <a:r>
              <a:rPr lang="en-US" sz="2000" dirty="0">
                <a:solidFill>
                  <a:srgbClr val="C00000"/>
                </a:solidFill>
              </a:rPr>
              <a:t>:</a:t>
            </a:r>
            <a:r>
              <a:rPr lang="en-US" sz="2000" dirty="0"/>
              <a:t> This method is called when the applet is about to start running. </a:t>
            </a:r>
            <a:endParaRPr lang="en-US" sz="2000" dirty="0" smtClean="0"/>
          </a:p>
          <a:p>
            <a:pPr marL="457200" indent="-457200">
              <a:buFont typeface="+mj-lt"/>
              <a:buAutoNum type="arabicPeriod"/>
            </a:pPr>
            <a:endParaRPr lang="en-US" sz="2000" dirty="0" smtClean="0"/>
          </a:p>
          <a:p>
            <a:pPr marL="457200" indent="-457200">
              <a:buFont typeface="+mj-lt"/>
              <a:buAutoNum type="arabicPeriod"/>
            </a:pPr>
            <a:r>
              <a:rPr lang="en-US" sz="2000" b="1" dirty="0">
                <a:solidFill>
                  <a:srgbClr val="C00000"/>
                </a:solidFill>
              </a:rPr>
              <a:t>p</a:t>
            </a:r>
            <a:r>
              <a:rPr lang="en-US" sz="2000" b="1" dirty="0" smtClean="0">
                <a:solidFill>
                  <a:srgbClr val="C00000"/>
                </a:solidFill>
              </a:rPr>
              <a:t>ublic void stop</a:t>
            </a:r>
            <a:r>
              <a:rPr lang="en-US" sz="2000" b="1" dirty="0">
                <a:solidFill>
                  <a:srgbClr val="C00000"/>
                </a:solidFill>
              </a:rPr>
              <a:t>()</a:t>
            </a:r>
            <a:r>
              <a:rPr lang="en-US" sz="2000" dirty="0">
                <a:solidFill>
                  <a:srgbClr val="C00000"/>
                </a:solidFill>
              </a:rPr>
              <a:t>: </a:t>
            </a:r>
            <a:r>
              <a:rPr lang="en-US" sz="2000" dirty="0"/>
              <a:t>This method is called when the applet is about to stop running. It is called when the user navigates away from the </a:t>
            </a:r>
            <a:r>
              <a:rPr lang="en-US" sz="2000" dirty="0" smtClean="0"/>
              <a:t>page.</a:t>
            </a:r>
          </a:p>
          <a:p>
            <a:pPr marL="457200" indent="-457200">
              <a:buFont typeface="+mj-lt"/>
              <a:buAutoNum type="arabicPeriod"/>
            </a:pPr>
            <a:endParaRPr lang="en-US" sz="2000" dirty="0" smtClean="0"/>
          </a:p>
          <a:p>
            <a:pPr marL="457200" indent="-457200">
              <a:buFont typeface="+mj-lt"/>
              <a:buAutoNum type="arabicPeriod"/>
            </a:pPr>
            <a:r>
              <a:rPr lang="en-US" sz="2000" b="1" dirty="0">
                <a:solidFill>
                  <a:srgbClr val="C00000"/>
                </a:solidFill>
              </a:rPr>
              <a:t>p</a:t>
            </a:r>
            <a:r>
              <a:rPr lang="en-US" sz="2000" b="1" dirty="0" smtClean="0">
                <a:solidFill>
                  <a:srgbClr val="C00000"/>
                </a:solidFill>
              </a:rPr>
              <a:t>ublic  void destroy</a:t>
            </a:r>
            <a:r>
              <a:rPr lang="en-US" sz="2000" b="1" dirty="0">
                <a:solidFill>
                  <a:srgbClr val="C00000"/>
                </a:solidFill>
              </a:rPr>
              <a:t>()</a:t>
            </a:r>
            <a:r>
              <a:rPr lang="en-US" sz="2000" dirty="0">
                <a:solidFill>
                  <a:srgbClr val="C00000"/>
                </a:solidFill>
              </a:rPr>
              <a:t>: </a:t>
            </a:r>
            <a:r>
              <a:rPr lang="en-US" sz="2000" dirty="0"/>
              <a:t>This method is called when the applet is being destroyed. </a:t>
            </a:r>
            <a:endParaRPr lang="en-US" sz="2000" dirty="0" smtClean="0"/>
          </a:p>
          <a:p>
            <a:pPr marL="457200" indent="-457200">
              <a:buFont typeface="+mj-lt"/>
              <a:buAutoNum type="arabicPeriod"/>
            </a:pPr>
            <a:endParaRPr lang="en-US" sz="2000" dirty="0"/>
          </a:p>
          <a:p>
            <a:pPr marL="457200" indent="-457200">
              <a:buFont typeface="+mj-lt"/>
              <a:buAutoNum type="arabicPeriod"/>
            </a:pPr>
            <a:r>
              <a:rPr lang="en-US" sz="2000" b="1" dirty="0" smtClean="0">
                <a:solidFill>
                  <a:srgbClr val="C00000"/>
                </a:solidFill>
              </a:rPr>
              <a:t>public void paint(Graphics </a:t>
            </a:r>
            <a:r>
              <a:rPr lang="en-US" sz="2000" b="1" dirty="0">
                <a:solidFill>
                  <a:srgbClr val="C00000"/>
                </a:solidFill>
              </a:rPr>
              <a:t>g)</a:t>
            </a:r>
            <a:r>
              <a:rPr lang="en-US" sz="2000" dirty="0">
                <a:solidFill>
                  <a:srgbClr val="C00000"/>
                </a:solidFill>
              </a:rPr>
              <a:t>: </a:t>
            </a:r>
            <a:r>
              <a:rPr lang="en-US" sz="2000" dirty="0"/>
              <a:t>This method is called whenever the applet needs to be redrawn, such as when it is first </a:t>
            </a:r>
            <a:r>
              <a:rPr lang="en-US" sz="2000" dirty="0" smtClean="0"/>
              <a:t>displayed</a:t>
            </a:r>
            <a:endParaRPr lang="en-US" sz="2400" dirty="0"/>
          </a:p>
        </p:txBody>
      </p:sp>
    </p:spTree>
    <p:custDataLst>
      <p:tags r:id="rId1"/>
    </p:custDataLst>
    <p:extLst>
      <p:ext uri="{BB962C8B-B14F-4D97-AF65-F5344CB8AC3E}">
        <p14:creationId xmlns:p14="http://schemas.microsoft.com/office/powerpoint/2010/main" val="2835890301"/>
      </p:ext>
    </p:extLst>
  </p:cSld>
  <p:clrMapOvr>
    <a:masterClrMapping/>
  </p:clrMapOvr>
  <p:transition spd="slow">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375" y="476672"/>
            <a:ext cx="8229600" cy="914400"/>
          </a:xfrm>
        </p:spPr>
        <p:txBody>
          <a:bodyPr>
            <a:noAutofit/>
          </a:bodyPr>
          <a:lstStyle/>
          <a:p>
            <a:pPr algn="ctr"/>
            <a:r>
              <a:rPr lang="en-IN" sz="2400" b="1" u="sng" dirty="0" smtClean="0">
                <a:solidFill>
                  <a:srgbClr val="C00000"/>
                </a:solidFill>
              </a:rPr>
              <a:t> </a:t>
            </a:r>
            <a:r>
              <a:rPr lang="en-US" sz="2400" b="1" u="sng" dirty="0">
                <a:solidFill>
                  <a:srgbClr val="C00000"/>
                </a:solidFill>
              </a:rPr>
              <a:t>How to run an Applet?</a:t>
            </a:r>
            <a:br>
              <a:rPr lang="en-US" sz="2400" b="1" u="sng" dirty="0">
                <a:solidFill>
                  <a:srgbClr val="C00000"/>
                </a:solidFill>
              </a:rPr>
            </a:br>
            <a:r>
              <a:rPr lang="en-IN" sz="2400" b="1" u="sng" dirty="0">
                <a:solidFill>
                  <a:srgbClr val="0070C0"/>
                </a:solidFill>
              </a:rPr>
              <a:t/>
            </a:r>
            <a:br>
              <a:rPr lang="en-IN" sz="2400" b="1" u="sng" dirty="0">
                <a:solidFill>
                  <a:srgbClr val="0070C0"/>
                </a:solidFill>
              </a:rPr>
            </a:br>
            <a:r>
              <a:rPr lang="en-IN" sz="2000" b="1" dirty="0">
                <a:solidFill>
                  <a:srgbClr val="7030A0"/>
                </a:solidFill>
              </a:rPr>
              <a:t/>
            </a:r>
            <a:br>
              <a:rPr lang="en-IN" sz="2000" b="1" dirty="0">
                <a:solidFill>
                  <a:srgbClr val="7030A0"/>
                </a:solidFill>
              </a:rPr>
            </a:br>
            <a:r>
              <a:rPr lang="en-IN" sz="2000" b="1" dirty="0">
                <a:solidFill>
                  <a:srgbClr val="7030A0"/>
                </a:solidFill>
              </a:rPr>
              <a:t/>
            </a:r>
            <a:br>
              <a:rPr lang="en-IN" sz="2000" b="1" dirty="0">
                <a:solidFill>
                  <a:srgbClr val="7030A0"/>
                </a:solidFill>
              </a:rPr>
            </a:br>
            <a:endParaRPr lang="en-IN" sz="2000" b="1" dirty="0">
              <a:solidFill>
                <a:srgbClr val="7030A0"/>
              </a:solidFill>
            </a:endParaRPr>
          </a:p>
        </p:txBody>
      </p:sp>
      <p:sp>
        <p:nvSpPr>
          <p:cNvPr id="3" name="AutoShape 2" descr="Applet Life Cycle in Java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Java Applet And Its Life Cycle – Its Java Hel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Rectangle 5"/>
          <p:cNvSpPr/>
          <p:nvPr/>
        </p:nvSpPr>
        <p:spPr>
          <a:xfrm>
            <a:off x="165062" y="1124744"/>
            <a:ext cx="8892478" cy="3170099"/>
          </a:xfrm>
          <a:prstGeom prst="rect">
            <a:avLst/>
          </a:prstGeom>
        </p:spPr>
        <p:txBody>
          <a:bodyPr wrap="square">
            <a:spAutoFit/>
          </a:bodyPr>
          <a:lstStyle/>
          <a:p>
            <a:r>
              <a:rPr lang="en-US" sz="2000" b="1" dirty="0"/>
              <a:t>There are two ways to run an </a:t>
            </a:r>
            <a:r>
              <a:rPr lang="en-US" sz="2000" b="1" dirty="0" smtClean="0"/>
              <a:t>applet</a:t>
            </a:r>
          </a:p>
          <a:p>
            <a:endParaRPr lang="en-US" sz="2000" b="1" dirty="0"/>
          </a:p>
          <a:p>
            <a:pPr marL="457200" indent="-457200">
              <a:buFont typeface="+mj-lt"/>
              <a:buAutoNum type="arabicPeriod"/>
            </a:pPr>
            <a:r>
              <a:rPr lang="en-US" sz="2000" dirty="0"/>
              <a:t>By html </a:t>
            </a:r>
            <a:r>
              <a:rPr lang="en-US" sz="2000" dirty="0" smtClean="0"/>
              <a:t>file on Web Browser</a:t>
            </a:r>
            <a:endParaRPr lang="en-US" sz="2000" dirty="0"/>
          </a:p>
          <a:p>
            <a:pPr marL="457200" indent="-457200">
              <a:buFont typeface="+mj-lt"/>
              <a:buAutoNum type="arabicPeriod"/>
            </a:pPr>
            <a:r>
              <a:rPr lang="en-US" sz="2000" dirty="0"/>
              <a:t>By </a:t>
            </a:r>
            <a:r>
              <a:rPr lang="en-US" sz="2000" dirty="0" err="1"/>
              <a:t>appletViewer</a:t>
            </a:r>
            <a:r>
              <a:rPr lang="en-US" sz="2000" dirty="0"/>
              <a:t> tool (for testing purpose</a:t>
            </a:r>
            <a:r>
              <a:rPr lang="en-US" sz="2000" dirty="0" smtClean="0"/>
              <a:t>) On command prompt</a:t>
            </a:r>
          </a:p>
          <a:p>
            <a:pPr marL="457200" indent="-457200">
              <a:buFont typeface="+mj-lt"/>
              <a:buAutoNum type="arabicPeriod"/>
            </a:pPr>
            <a:endParaRPr lang="en-US" sz="2000" dirty="0"/>
          </a:p>
          <a:p>
            <a:r>
              <a:rPr lang="en-US" sz="2000" dirty="0" smtClean="0"/>
              <a:t>For Example:</a:t>
            </a:r>
          </a:p>
          <a:p>
            <a:endParaRPr lang="en-US" sz="2000" dirty="0"/>
          </a:p>
          <a:p>
            <a:pPr>
              <a:lnSpc>
                <a:spcPct val="150000"/>
              </a:lnSpc>
            </a:pPr>
            <a:r>
              <a:rPr lang="en-US" sz="2000" b="1" dirty="0">
                <a:solidFill>
                  <a:srgbClr val="FF0000"/>
                </a:solidFill>
              </a:rPr>
              <a:t>c:\&gt;</a:t>
            </a:r>
            <a:r>
              <a:rPr lang="en-US" sz="2000" dirty="0">
                <a:solidFill>
                  <a:srgbClr val="FF0000"/>
                </a:solidFill>
              </a:rPr>
              <a:t>javac First.java </a:t>
            </a:r>
            <a:endParaRPr lang="en-US" sz="2000" dirty="0" smtClean="0">
              <a:solidFill>
                <a:srgbClr val="FF0000"/>
              </a:solidFill>
            </a:endParaRPr>
          </a:p>
          <a:p>
            <a:pPr>
              <a:lnSpc>
                <a:spcPct val="150000"/>
              </a:lnSpc>
            </a:pPr>
            <a:r>
              <a:rPr lang="en-US" sz="2000" b="1" dirty="0" smtClean="0">
                <a:solidFill>
                  <a:srgbClr val="FF0000"/>
                </a:solidFill>
              </a:rPr>
              <a:t>c</a:t>
            </a:r>
            <a:r>
              <a:rPr lang="en-US" sz="2000" b="1" dirty="0">
                <a:solidFill>
                  <a:srgbClr val="FF0000"/>
                </a:solidFill>
              </a:rPr>
              <a:t>:\&gt;</a:t>
            </a:r>
            <a:r>
              <a:rPr lang="en-US" sz="2000" dirty="0">
                <a:solidFill>
                  <a:srgbClr val="FF0000"/>
                </a:solidFill>
              </a:rPr>
              <a:t>appletviewer </a:t>
            </a:r>
            <a:r>
              <a:rPr lang="en-US" sz="2000" dirty="0" smtClean="0">
                <a:solidFill>
                  <a:srgbClr val="FF0000"/>
                </a:solidFill>
              </a:rPr>
              <a:t>my.java</a:t>
            </a:r>
            <a:endParaRPr lang="en-US" sz="2000" dirty="0">
              <a:solidFill>
                <a:srgbClr val="FF0000"/>
              </a:solidFill>
            </a:endParaRPr>
          </a:p>
        </p:txBody>
      </p:sp>
    </p:spTree>
    <p:custDataLst>
      <p:tags r:id="rId1"/>
    </p:custDataLst>
    <p:extLst>
      <p:ext uri="{BB962C8B-B14F-4D97-AF65-F5344CB8AC3E}">
        <p14:creationId xmlns:p14="http://schemas.microsoft.com/office/powerpoint/2010/main" val="1282319247"/>
      </p:ext>
    </p:extLst>
  </p:cSld>
  <p:clrMapOvr>
    <a:masterClrMapping/>
  </p:clrMapOvr>
  <p:transition spd="slow">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6501" y="667544"/>
            <a:ext cx="8229600" cy="914400"/>
          </a:xfrm>
        </p:spPr>
        <p:txBody>
          <a:bodyPr>
            <a:noAutofit/>
          </a:bodyPr>
          <a:lstStyle/>
          <a:p>
            <a:pPr algn="ctr"/>
            <a:r>
              <a:rPr lang="en-IN" sz="2400" b="1" u="sng" dirty="0" smtClean="0">
                <a:solidFill>
                  <a:srgbClr val="C00000"/>
                </a:solidFill>
              </a:rPr>
              <a:t> </a:t>
            </a:r>
            <a:r>
              <a:rPr lang="en-US" sz="2400" b="1" u="sng" dirty="0">
                <a:solidFill>
                  <a:srgbClr val="C00000"/>
                </a:solidFill>
              </a:rPr>
              <a:t>B</a:t>
            </a:r>
            <a:r>
              <a:rPr lang="en-US" sz="2400" b="1" u="sng" dirty="0" smtClean="0">
                <a:solidFill>
                  <a:srgbClr val="C00000"/>
                </a:solidFill>
              </a:rPr>
              <a:t>asic </a:t>
            </a:r>
            <a:r>
              <a:rPr lang="en-US" sz="2400" b="1" u="sng" dirty="0">
                <a:solidFill>
                  <a:srgbClr val="C00000"/>
                </a:solidFill>
              </a:rPr>
              <a:t>guide to creating an applet program in </a:t>
            </a:r>
            <a:r>
              <a:rPr lang="en-US" sz="2400" b="1" u="sng" dirty="0" smtClean="0">
                <a:solidFill>
                  <a:srgbClr val="C00000"/>
                </a:solidFill>
              </a:rPr>
              <a:t>Java</a:t>
            </a:r>
            <a:r>
              <a:rPr lang="en-IN" sz="2400" b="1" u="sng" dirty="0">
                <a:solidFill>
                  <a:srgbClr val="0070C0"/>
                </a:solidFill>
              </a:rPr>
              <a:t/>
            </a:r>
            <a:br>
              <a:rPr lang="en-IN" sz="2400" b="1" u="sng" dirty="0">
                <a:solidFill>
                  <a:srgbClr val="0070C0"/>
                </a:solidFill>
              </a:rPr>
            </a:br>
            <a:r>
              <a:rPr lang="en-IN" sz="2000" b="1" dirty="0">
                <a:solidFill>
                  <a:srgbClr val="7030A0"/>
                </a:solidFill>
              </a:rPr>
              <a:t/>
            </a:r>
            <a:br>
              <a:rPr lang="en-IN" sz="2000" b="1" dirty="0">
                <a:solidFill>
                  <a:srgbClr val="7030A0"/>
                </a:solidFill>
              </a:rPr>
            </a:br>
            <a:r>
              <a:rPr lang="en-IN" sz="2000" b="1" dirty="0">
                <a:solidFill>
                  <a:srgbClr val="7030A0"/>
                </a:solidFill>
              </a:rPr>
              <a:t/>
            </a:r>
            <a:br>
              <a:rPr lang="en-IN" sz="2000" b="1" dirty="0">
                <a:solidFill>
                  <a:srgbClr val="7030A0"/>
                </a:solidFill>
              </a:rPr>
            </a:br>
            <a:endParaRPr lang="en-IN" sz="2000" b="1" dirty="0">
              <a:solidFill>
                <a:srgbClr val="7030A0"/>
              </a:solidFill>
            </a:endParaRPr>
          </a:p>
        </p:txBody>
      </p:sp>
      <p:sp>
        <p:nvSpPr>
          <p:cNvPr id="3" name="AutoShape 2" descr="Applet Life Cycle in Java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Java Applet And Its Life Cycle – Its Java Hel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Rectangle 5"/>
          <p:cNvSpPr/>
          <p:nvPr/>
        </p:nvSpPr>
        <p:spPr>
          <a:xfrm>
            <a:off x="153821" y="1340768"/>
            <a:ext cx="8892478" cy="5324535"/>
          </a:xfrm>
          <a:prstGeom prst="rect">
            <a:avLst/>
          </a:prstGeom>
        </p:spPr>
        <p:txBody>
          <a:bodyPr wrap="square">
            <a:spAutoFit/>
          </a:bodyPr>
          <a:lstStyle/>
          <a:p>
            <a:pPr marL="457200" indent="-457200">
              <a:buFont typeface="+mj-lt"/>
              <a:buAutoNum type="arabicPeriod"/>
            </a:pPr>
            <a:r>
              <a:rPr lang="en-US" sz="2000" b="1" dirty="0"/>
              <a:t>Create a Java class</a:t>
            </a:r>
            <a:r>
              <a:rPr lang="en-US" sz="2000" dirty="0"/>
              <a:t>: Start by creating a new Java class that extends the </a:t>
            </a:r>
            <a:r>
              <a:rPr lang="en-US" sz="2000" dirty="0" err="1"/>
              <a:t>java.applet.Applet</a:t>
            </a:r>
            <a:r>
              <a:rPr lang="en-US" sz="2000" dirty="0"/>
              <a:t> class. </a:t>
            </a:r>
            <a:endParaRPr lang="en-US" sz="2000" dirty="0" smtClean="0"/>
          </a:p>
          <a:p>
            <a:pPr marL="457200" indent="-457200">
              <a:buFont typeface="+mj-lt"/>
              <a:buAutoNum type="arabicPeriod"/>
            </a:pPr>
            <a:endParaRPr lang="en-US" sz="2000" dirty="0"/>
          </a:p>
          <a:p>
            <a:pPr marL="457200" indent="-457200">
              <a:buFont typeface="+mj-lt"/>
              <a:buAutoNum type="arabicPeriod"/>
            </a:pPr>
            <a:r>
              <a:rPr lang="en-US" sz="2000" b="1" dirty="0"/>
              <a:t>Override the necessary methods</a:t>
            </a:r>
            <a:r>
              <a:rPr lang="en-US" sz="2000" dirty="0"/>
              <a:t>: In your applet class, you'll need to override the </a:t>
            </a:r>
            <a:r>
              <a:rPr lang="en-US" sz="2000" dirty="0" err="1"/>
              <a:t>init</a:t>
            </a:r>
            <a:r>
              <a:rPr lang="en-US" sz="2000" dirty="0"/>
              <a:t>(), start(), stop(), and paint() methods. </a:t>
            </a:r>
            <a:endParaRPr lang="en-US" sz="2000" dirty="0" smtClean="0"/>
          </a:p>
          <a:p>
            <a:pPr marL="457200" indent="-457200">
              <a:buFont typeface="+mj-lt"/>
              <a:buAutoNum type="arabicPeriod"/>
            </a:pPr>
            <a:endParaRPr lang="en-US" sz="2000" dirty="0" smtClean="0"/>
          </a:p>
          <a:p>
            <a:pPr marL="457200" indent="-457200">
              <a:buFont typeface="+mj-lt"/>
              <a:buAutoNum type="arabicPeriod"/>
            </a:pPr>
            <a:r>
              <a:rPr lang="en-US" sz="2000" b="1" dirty="0" smtClean="0"/>
              <a:t>Implement </a:t>
            </a:r>
            <a:r>
              <a:rPr lang="en-US" sz="2000" b="1" dirty="0"/>
              <a:t>the applet's functionality</a:t>
            </a:r>
            <a:r>
              <a:rPr lang="en-US" sz="2000" dirty="0"/>
              <a:t>: Inside the </a:t>
            </a:r>
            <a:r>
              <a:rPr lang="en-US" sz="2000" dirty="0" err="1"/>
              <a:t>init</a:t>
            </a:r>
            <a:r>
              <a:rPr lang="en-US" sz="2000" dirty="0"/>
              <a:t>() method, you can set up any initialization code for your </a:t>
            </a:r>
            <a:r>
              <a:rPr lang="en-US" sz="2000" dirty="0" smtClean="0"/>
              <a:t>applet. In </a:t>
            </a:r>
            <a:r>
              <a:rPr lang="en-US" sz="2000" dirty="0"/>
              <a:t>the paint() method, you'll write code to draw graphics or display content on the applet's surface</a:t>
            </a:r>
            <a:r>
              <a:rPr lang="en-US" sz="2000" dirty="0" smtClean="0"/>
              <a:t>.</a:t>
            </a:r>
          </a:p>
          <a:p>
            <a:pPr marL="457200" indent="-457200">
              <a:buFont typeface="+mj-lt"/>
              <a:buAutoNum type="arabicPeriod"/>
            </a:pPr>
            <a:endParaRPr lang="en-US" sz="2000" dirty="0"/>
          </a:p>
          <a:p>
            <a:pPr marL="457200" indent="-457200">
              <a:buFont typeface="+mj-lt"/>
              <a:buAutoNum type="arabicPeriod"/>
            </a:pPr>
            <a:r>
              <a:rPr lang="en-US" sz="2000" b="1" dirty="0" smtClean="0"/>
              <a:t>Create </a:t>
            </a:r>
            <a:r>
              <a:rPr lang="en-US" sz="2000" b="1" dirty="0"/>
              <a:t>an HTML </a:t>
            </a:r>
            <a:r>
              <a:rPr lang="en-US" sz="2000" b="1" dirty="0" smtClean="0"/>
              <a:t>File</a:t>
            </a:r>
            <a:r>
              <a:rPr lang="en-US" sz="2000" dirty="0" smtClean="0"/>
              <a:t>: </a:t>
            </a:r>
            <a:r>
              <a:rPr lang="en-US" sz="2000" dirty="0"/>
              <a:t>To run your applet in a </a:t>
            </a:r>
            <a:r>
              <a:rPr lang="en-US" sz="2000" dirty="0" err="1" smtClean="0"/>
              <a:t>appletviewer</a:t>
            </a:r>
            <a:r>
              <a:rPr lang="en-US" sz="2000" dirty="0" smtClean="0"/>
              <a:t>, </a:t>
            </a:r>
            <a:r>
              <a:rPr lang="en-US" sz="2000" dirty="0"/>
              <a:t>you'll need to create an </a:t>
            </a:r>
            <a:r>
              <a:rPr lang="en-US" sz="2000" dirty="0" smtClean="0"/>
              <a:t>&lt;</a:t>
            </a:r>
            <a:r>
              <a:rPr lang="en-US" sz="2000" dirty="0"/>
              <a:t>applet&gt; tag with the necessary attributes to specify the applet's class name and </a:t>
            </a:r>
            <a:r>
              <a:rPr lang="en-US" sz="2000" dirty="0" smtClean="0"/>
              <a:t>size</a:t>
            </a:r>
            <a:r>
              <a:rPr lang="en-US" sz="2000" dirty="0"/>
              <a:t> </a:t>
            </a:r>
            <a:r>
              <a:rPr lang="en-US" sz="2000" dirty="0" smtClean="0"/>
              <a:t>in html separate file.</a:t>
            </a:r>
          </a:p>
          <a:p>
            <a:pPr marL="457200" indent="-457200">
              <a:buFont typeface="+mj-lt"/>
              <a:buAutoNum type="arabicPeriod"/>
            </a:pPr>
            <a:endParaRPr lang="en-US" sz="2000" dirty="0" smtClean="0"/>
          </a:p>
          <a:p>
            <a:pPr marL="457200" indent="-457200">
              <a:buFont typeface="+mj-lt"/>
              <a:buAutoNum type="arabicPeriod"/>
            </a:pPr>
            <a:r>
              <a:rPr lang="en-US" sz="2000" b="1" dirty="0"/>
              <a:t>Compile </a:t>
            </a:r>
            <a:r>
              <a:rPr lang="en-US" sz="2000" b="1" dirty="0" smtClean="0"/>
              <a:t>and run  </a:t>
            </a:r>
            <a:r>
              <a:rPr lang="en-US" sz="2000" b="1" dirty="0"/>
              <a:t>code</a:t>
            </a:r>
            <a:r>
              <a:rPr lang="en-US" sz="2000" dirty="0"/>
              <a:t>: Once you've written your applet class, compile it using the Java compiler (</a:t>
            </a:r>
            <a:r>
              <a:rPr lang="en-US" sz="2000" dirty="0" err="1"/>
              <a:t>javac</a:t>
            </a:r>
            <a:r>
              <a:rPr lang="en-US" sz="2000" dirty="0" smtClean="0"/>
              <a:t>) and run (</a:t>
            </a:r>
            <a:r>
              <a:rPr lang="en-US" sz="2000" dirty="0" err="1" smtClean="0"/>
              <a:t>appletviewer</a:t>
            </a:r>
            <a:r>
              <a:rPr lang="en-US" sz="2000" dirty="0" smtClean="0"/>
              <a:t>)</a:t>
            </a:r>
            <a:endParaRPr lang="en-US" sz="2000" dirty="0"/>
          </a:p>
        </p:txBody>
      </p:sp>
    </p:spTree>
    <p:custDataLst>
      <p:tags r:id="rId1"/>
    </p:custDataLst>
    <p:extLst>
      <p:ext uri="{BB962C8B-B14F-4D97-AF65-F5344CB8AC3E}">
        <p14:creationId xmlns:p14="http://schemas.microsoft.com/office/powerpoint/2010/main" val="789566332"/>
      </p:ext>
    </p:extLst>
  </p:cSld>
  <p:clrMapOvr>
    <a:masterClrMapping/>
  </p:clrMapOvr>
  <p:transition spd="slow">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6501" y="667544"/>
            <a:ext cx="8229600" cy="914400"/>
          </a:xfrm>
        </p:spPr>
        <p:txBody>
          <a:bodyPr>
            <a:noAutofit/>
          </a:bodyPr>
          <a:lstStyle/>
          <a:p>
            <a:pPr algn="ctr"/>
            <a:r>
              <a:rPr lang="en-US" sz="2400" b="1" u="sng" dirty="0" smtClean="0">
                <a:solidFill>
                  <a:srgbClr val="C00000"/>
                </a:solidFill>
              </a:rPr>
              <a:t>&lt;applet&gt; Tag</a:t>
            </a:r>
            <a:r>
              <a:rPr lang="en-IN" sz="2000" b="1" dirty="0">
                <a:solidFill>
                  <a:srgbClr val="7030A0"/>
                </a:solidFill>
              </a:rPr>
              <a:t/>
            </a:r>
            <a:br>
              <a:rPr lang="en-IN" sz="2000" b="1" dirty="0">
                <a:solidFill>
                  <a:srgbClr val="7030A0"/>
                </a:solidFill>
              </a:rPr>
            </a:br>
            <a:r>
              <a:rPr lang="en-IN" sz="2000" b="1" dirty="0">
                <a:solidFill>
                  <a:srgbClr val="7030A0"/>
                </a:solidFill>
              </a:rPr>
              <a:t/>
            </a:r>
            <a:br>
              <a:rPr lang="en-IN" sz="2000" b="1" dirty="0">
                <a:solidFill>
                  <a:srgbClr val="7030A0"/>
                </a:solidFill>
              </a:rPr>
            </a:br>
            <a:endParaRPr lang="en-IN" sz="2000" b="1" dirty="0">
              <a:solidFill>
                <a:srgbClr val="7030A0"/>
              </a:solidFill>
            </a:endParaRPr>
          </a:p>
        </p:txBody>
      </p:sp>
      <p:sp>
        <p:nvSpPr>
          <p:cNvPr id="3" name="AutoShape 2" descr="Applet Life Cycle in Java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Java Applet And Its Life Cycle – Its Java Hel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Rectangle 5"/>
          <p:cNvSpPr/>
          <p:nvPr/>
        </p:nvSpPr>
        <p:spPr>
          <a:xfrm>
            <a:off x="153821" y="1340768"/>
            <a:ext cx="8892478" cy="1015663"/>
          </a:xfrm>
          <a:prstGeom prst="rect">
            <a:avLst/>
          </a:prstGeom>
        </p:spPr>
        <p:txBody>
          <a:bodyPr wrap="square">
            <a:spAutoFit/>
          </a:bodyPr>
          <a:lstStyle/>
          <a:p>
            <a:pPr marL="342900" indent="-342900" algn="just">
              <a:lnSpc>
                <a:spcPct val="150000"/>
              </a:lnSpc>
              <a:buFont typeface="Wingdings" pitchFamily="2" charset="2"/>
              <a:buChar char="Ø"/>
            </a:pPr>
            <a:r>
              <a:rPr lang="en-US" sz="2000" dirty="0" smtClean="0"/>
              <a:t>The </a:t>
            </a:r>
            <a:r>
              <a:rPr lang="en-US" sz="2000" dirty="0"/>
              <a:t>HTML </a:t>
            </a:r>
            <a:r>
              <a:rPr lang="en-US" sz="2000" dirty="0" smtClean="0"/>
              <a:t>file need to create for writing &lt;applet</a:t>
            </a:r>
            <a:r>
              <a:rPr lang="en-US" sz="2000" dirty="0"/>
              <a:t>&gt; tag </a:t>
            </a:r>
            <a:endParaRPr lang="en-US" sz="2000" dirty="0" smtClean="0"/>
          </a:p>
          <a:p>
            <a:pPr marL="342900" indent="-342900" algn="just">
              <a:lnSpc>
                <a:spcPct val="150000"/>
              </a:lnSpc>
              <a:buFont typeface="Wingdings" pitchFamily="2" charset="2"/>
              <a:buChar char="Ø"/>
            </a:pPr>
            <a:r>
              <a:rPr lang="en-US" sz="2000" dirty="0" smtClean="0"/>
              <a:t>This </a:t>
            </a:r>
            <a:r>
              <a:rPr lang="en-US" sz="2000" dirty="0"/>
              <a:t>way, you have </a:t>
            </a:r>
            <a:r>
              <a:rPr lang="en-US" sz="2000" dirty="0" smtClean="0"/>
              <a:t>two files that is  </a:t>
            </a:r>
            <a:r>
              <a:rPr lang="en-US" sz="2000" dirty="0"/>
              <a:t>HTML </a:t>
            </a:r>
            <a:r>
              <a:rPr lang="en-US" sz="2000" dirty="0" smtClean="0"/>
              <a:t>file and Java </a:t>
            </a:r>
            <a:r>
              <a:rPr lang="en-US" sz="2000" dirty="0"/>
              <a:t>source </a:t>
            </a:r>
            <a:r>
              <a:rPr lang="en-US" sz="2000" dirty="0" smtClean="0"/>
              <a:t>file.</a:t>
            </a:r>
            <a:endParaRPr lang="en-US" sz="2000" dirty="0"/>
          </a:p>
        </p:txBody>
      </p:sp>
      <p:sp>
        <p:nvSpPr>
          <p:cNvPr id="7" name="Rectangle 6"/>
          <p:cNvSpPr/>
          <p:nvPr/>
        </p:nvSpPr>
        <p:spPr>
          <a:xfrm>
            <a:off x="207911" y="2492896"/>
            <a:ext cx="8736905" cy="2554545"/>
          </a:xfrm>
          <a:prstGeom prst="rect">
            <a:avLst/>
          </a:prstGeom>
          <a:ln>
            <a:solidFill>
              <a:schemeClr val="accent1"/>
            </a:solidFill>
          </a:ln>
        </p:spPr>
        <p:txBody>
          <a:bodyPr wrap="square">
            <a:spAutoFit/>
          </a:bodyPr>
          <a:lstStyle/>
          <a:p>
            <a:r>
              <a:rPr lang="en-US" sz="2000" dirty="0">
                <a:solidFill>
                  <a:srgbClr val="00B0F0"/>
                </a:solidFill>
              </a:rPr>
              <a:t>&lt;html&gt;</a:t>
            </a:r>
          </a:p>
          <a:p>
            <a:r>
              <a:rPr lang="en-US" sz="2000" dirty="0">
                <a:solidFill>
                  <a:srgbClr val="00B0F0"/>
                </a:solidFill>
              </a:rPr>
              <a:t>&lt;body&gt;</a:t>
            </a:r>
          </a:p>
          <a:p>
            <a:r>
              <a:rPr lang="en-US" sz="2000" dirty="0" smtClean="0">
                <a:latin typeface="Courier New"/>
              </a:rPr>
              <a:t>&lt;</a:t>
            </a:r>
            <a:r>
              <a:rPr lang="en-US" sz="2000" dirty="0">
                <a:solidFill>
                  <a:srgbClr val="C00000"/>
                </a:solidFill>
                <a:latin typeface="Courier New"/>
              </a:rPr>
              <a:t>applet code </a:t>
            </a:r>
            <a:r>
              <a:rPr lang="en-US" sz="2000" dirty="0">
                <a:latin typeface="Courier New"/>
              </a:rPr>
              <a:t>= "</a:t>
            </a:r>
            <a:r>
              <a:rPr lang="en-US" sz="2000" dirty="0" err="1" smtClean="0">
                <a:solidFill>
                  <a:srgbClr val="0070C0"/>
                </a:solidFill>
                <a:latin typeface="Courier New"/>
              </a:rPr>
              <a:t>HelloApplet.class</a:t>
            </a:r>
            <a:r>
              <a:rPr lang="en-US" sz="2000" dirty="0">
                <a:latin typeface="Courier New"/>
              </a:rPr>
              <a:t>" </a:t>
            </a:r>
            <a:r>
              <a:rPr lang="en-US" sz="2000" dirty="0">
                <a:solidFill>
                  <a:srgbClr val="C00000"/>
                </a:solidFill>
                <a:latin typeface="Courier New"/>
              </a:rPr>
              <a:t>width</a:t>
            </a:r>
            <a:r>
              <a:rPr lang="en-US" sz="2000" dirty="0">
                <a:latin typeface="Courier New"/>
              </a:rPr>
              <a:t> = "320" </a:t>
            </a:r>
            <a:endParaRPr lang="en-US" sz="2000" dirty="0" smtClean="0">
              <a:latin typeface="Courier New"/>
            </a:endParaRPr>
          </a:p>
          <a:p>
            <a:r>
              <a:rPr lang="en-US" sz="2000" dirty="0" smtClean="0">
                <a:solidFill>
                  <a:srgbClr val="C00000"/>
                </a:solidFill>
                <a:latin typeface="Courier New"/>
              </a:rPr>
              <a:t>height</a:t>
            </a:r>
            <a:r>
              <a:rPr lang="en-US" sz="2000" dirty="0" smtClean="0">
                <a:latin typeface="Courier New"/>
              </a:rPr>
              <a:t> </a:t>
            </a:r>
            <a:r>
              <a:rPr lang="en-US" sz="2000" dirty="0">
                <a:latin typeface="Courier New"/>
              </a:rPr>
              <a:t>= "120"&gt; </a:t>
            </a:r>
            <a:endParaRPr lang="en-US" sz="2000" dirty="0" smtClean="0">
              <a:latin typeface="Courier New"/>
            </a:endParaRPr>
          </a:p>
          <a:p>
            <a:endParaRPr lang="en-US" sz="2000" dirty="0" smtClean="0">
              <a:latin typeface="Courier New"/>
            </a:endParaRPr>
          </a:p>
          <a:p>
            <a:r>
              <a:rPr lang="en-US" sz="2000" dirty="0" smtClean="0">
                <a:solidFill>
                  <a:srgbClr val="C00000"/>
                </a:solidFill>
                <a:latin typeface="Courier New"/>
              </a:rPr>
              <a:t>&lt;/</a:t>
            </a:r>
            <a:r>
              <a:rPr lang="en-US" sz="2000" dirty="0">
                <a:solidFill>
                  <a:srgbClr val="C00000"/>
                </a:solidFill>
                <a:latin typeface="Courier New"/>
              </a:rPr>
              <a:t>applet</a:t>
            </a:r>
            <a:r>
              <a:rPr lang="en-US" sz="2000" dirty="0" smtClean="0">
                <a:solidFill>
                  <a:srgbClr val="C00000"/>
                </a:solidFill>
                <a:latin typeface="Courier New"/>
              </a:rPr>
              <a:t>&gt;</a:t>
            </a:r>
          </a:p>
          <a:p>
            <a:r>
              <a:rPr lang="en-IN" sz="2000" dirty="0">
                <a:solidFill>
                  <a:srgbClr val="00B0F0"/>
                </a:solidFill>
              </a:rPr>
              <a:t>&lt;/body&gt;</a:t>
            </a:r>
          </a:p>
          <a:p>
            <a:r>
              <a:rPr lang="en-IN" sz="2000" dirty="0">
                <a:solidFill>
                  <a:srgbClr val="00B0F0"/>
                </a:solidFill>
              </a:rPr>
              <a:t>&lt;/html&gt;</a:t>
            </a:r>
          </a:p>
        </p:txBody>
      </p:sp>
      <p:sp>
        <p:nvSpPr>
          <p:cNvPr id="8" name="Rectangle 7"/>
          <p:cNvSpPr/>
          <p:nvPr/>
        </p:nvSpPr>
        <p:spPr>
          <a:xfrm>
            <a:off x="153821" y="5157192"/>
            <a:ext cx="8522635" cy="1323439"/>
          </a:xfrm>
          <a:prstGeom prst="rect">
            <a:avLst/>
          </a:prstGeom>
        </p:spPr>
        <p:txBody>
          <a:bodyPr wrap="square">
            <a:spAutoFit/>
          </a:bodyPr>
          <a:lstStyle/>
          <a:p>
            <a:pPr marL="285750" indent="-285750">
              <a:buFont typeface="Wingdings" pitchFamily="2" charset="2"/>
              <a:buChar char="Ø"/>
            </a:pPr>
            <a:r>
              <a:rPr lang="en-US" sz="2000" dirty="0"/>
              <a:t>The code attribute of the &lt;applet&gt; tag is required. It specifies the Applet class to run. </a:t>
            </a:r>
            <a:endParaRPr lang="en-US" sz="2000" dirty="0" smtClean="0"/>
          </a:p>
          <a:p>
            <a:pPr marL="285750" indent="-285750">
              <a:buFont typeface="Wingdings" pitchFamily="2" charset="2"/>
              <a:buChar char="Ø"/>
            </a:pPr>
            <a:r>
              <a:rPr lang="en-US" sz="2000" dirty="0" smtClean="0"/>
              <a:t>Width </a:t>
            </a:r>
            <a:r>
              <a:rPr lang="en-US" sz="2000" dirty="0"/>
              <a:t>and height are also required to specify the initial size of the panel in which an applet runs. </a:t>
            </a:r>
            <a:endParaRPr lang="en-IN" sz="2000" dirty="0"/>
          </a:p>
        </p:txBody>
      </p:sp>
    </p:spTree>
    <p:custDataLst>
      <p:tags r:id="rId1"/>
    </p:custDataLst>
    <p:extLst>
      <p:ext uri="{BB962C8B-B14F-4D97-AF65-F5344CB8AC3E}">
        <p14:creationId xmlns:p14="http://schemas.microsoft.com/office/powerpoint/2010/main" val="511601992"/>
      </p:ext>
    </p:extLst>
  </p:cSld>
  <p:clrMapOvr>
    <a:masterClrMapping/>
  </p:clrMapOvr>
  <p:transition spd="slow">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6501" y="667544"/>
            <a:ext cx="8229600" cy="914400"/>
          </a:xfrm>
        </p:spPr>
        <p:txBody>
          <a:bodyPr>
            <a:noAutofit/>
          </a:bodyPr>
          <a:lstStyle/>
          <a:p>
            <a:pPr algn="ctr"/>
            <a:r>
              <a:rPr lang="en-US" sz="2400" b="1" u="sng" dirty="0" smtClean="0">
                <a:solidFill>
                  <a:srgbClr val="C00000"/>
                </a:solidFill>
              </a:rPr>
              <a:t>Simple Applet program</a:t>
            </a:r>
            <a:r>
              <a:rPr lang="en-IN" sz="2000" b="1" dirty="0">
                <a:solidFill>
                  <a:srgbClr val="7030A0"/>
                </a:solidFill>
              </a:rPr>
              <a:t/>
            </a:r>
            <a:br>
              <a:rPr lang="en-IN" sz="2000" b="1" dirty="0">
                <a:solidFill>
                  <a:srgbClr val="7030A0"/>
                </a:solidFill>
              </a:rPr>
            </a:br>
            <a:endParaRPr lang="en-IN" sz="2000" b="1" dirty="0">
              <a:solidFill>
                <a:srgbClr val="7030A0"/>
              </a:solidFill>
            </a:endParaRPr>
          </a:p>
        </p:txBody>
      </p:sp>
      <p:sp>
        <p:nvSpPr>
          <p:cNvPr id="3" name="AutoShape 2" descr="Applet Life Cycle in Java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Java Applet And Its Life Cycle – Its Java Hel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Rectangle 5"/>
          <p:cNvSpPr/>
          <p:nvPr/>
        </p:nvSpPr>
        <p:spPr>
          <a:xfrm>
            <a:off x="153821" y="1340768"/>
            <a:ext cx="8892478" cy="5324535"/>
          </a:xfrm>
          <a:prstGeom prst="rect">
            <a:avLst/>
          </a:prstGeom>
        </p:spPr>
        <p:txBody>
          <a:bodyPr wrap="square">
            <a:spAutoFit/>
          </a:bodyPr>
          <a:lstStyle/>
          <a:p>
            <a:pPr algn="just">
              <a:lnSpc>
                <a:spcPct val="150000"/>
              </a:lnSpc>
            </a:pPr>
            <a:r>
              <a:rPr lang="en-IN" sz="2000" dirty="0"/>
              <a:t>import </a:t>
            </a:r>
            <a:r>
              <a:rPr lang="en-IN" sz="2000" dirty="0" err="1"/>
              <a:t>java.applet.Applet</a:t>
            </a:r>
            <a:r>
              <a:rPr lang="en-IN" sz="2000" dirty="0"/>
              <a:t>; </a:t>
            </a:r>
            <a:endParaRPr lang="en-IN" sz="2000" dirty="0" smtClean="0"/>
          </a:p>
          <a:p>
            <a:pPr algn="just">
              <a:lnSpc>
                <a:spcPct val="150000"/>
              </a:lnSpc>
            </a:pPr>
            <a:r>
              <a:rPr lang="en-IN" sz="2000" dirty="0" smtClean="0"/>
              <a:t>import </a:t>
            </a:r>
            <a:r>
              <a:rPr lang="en-IN" sz="2000" dirty="0" err="1"/>
              <a:t>java.awt.Graphics</a:t>
            </a:r>
            <a:r>
              <a:rPr lang="en-IN" sz="2000" dirty="0" smtClean="0"/>
              <a:t>;</a:t>
            </a:r>
          </a:p>
          <a:p>
            <a:r>
              <a:rPr lang="en-US" sz="2000" dirty="0" smtClean="0"/>
              <a:t>/* </a:t>
            </a:r>
            <a:r>
              <a:rPr lang="en-US" sz="2000" dirty="0" smtClean="0">
                <a:latin typeface="Courier New"/>
              </a:rPr>
              <a:t>&lt;</a:t>
            </a:r>
            <a:r>
              <a:rPr lang="en-US" sz="2000" dirty="0">
                <a:solidFill>
                  <a:srgbClr val="C00000"/>
                </a:solidFill>
                <a:latin typeface="Courier New"/>
              </a:rPr>
              <a:t>applet code </a:t>
            </a:r>
            <a:r>
              <a:rPr lang="en-US" sz="2000" dirty="0">
                <a:latin typeface="Courier New"/>
              </a:rPr>
              <a:t>= "</a:t>
            </a:r>
            <a:r>
              <a:rPr lang="en-US" sz="2000" dirty="0" err="1">
                <a:solidFill>
                  <a:srgbClr val="0070C0"/>
                </a:solidFill>
                <a:latin typeface="Courier New"/>
              </a:rPr>
              <a:t>HelloApplet.class</a:t>
            </a:r>
            <a:r>
              <a:rPr lang="en-US" sz="2000" dirty="0">
                <a:latin typeface="Courier New"/>
              </a:rPr>
              <a:t>" </a:t>
            </a:r>
            <a:r>
              <a:rPr lang="en-US" sz="2000" dirty="0">
                <a:solidFill>
                  <a:srgbClr val="C00000"/>
                </a:solidFill>
                <a:latin typeface="Courier New"/>
              </a:rPr>
              <a:t>width</a:t>
            </a:r>
            <a:r>
              <a:rPr lang="en-US" sz="2000" dirty="0">
                <a:latin typeface="Courier New"/>
              </a:rPr>
              <a:t> = "320" </a:t>
            </a:r>
          </a:p>
          <a:p>
            <a:r>
              <a:rPr lang="en-US" sz="2000" dirty="0">
                <a:solidFill>
                  <a:srgbClr val="C00000"/>
                </a:solidFill>
                <a:latin typeface="Courier New"/>
              </a:rPr>
              <a:t>height</a:t>
            </a:r>
            <a:r>
              <a:rPr lang="en-US" sz="2000" dirty="0">
                <a:latin typeface="Courier New"/>
              </a:rPr>
              <a:t> = "120"&gt; </a:t>
            </a:r>
            <a:r>
              <a:rPr lang="en-US" sz="2000" dirty="0">
                <a:solidFill>
                  <a:srgbClr val="C00000"/>
                </a:solidFill>
                <a:latin typeface="Courier New"/>
              </a:rPr>
              <a:t>&lt;/applet</a:t>
            </a:r>
            <a:r>
              <a:rPr lang="en-US" sz="2000" dirty="0" smtClean="0">
                <a:solidFill>
                  <a:srgbClr val="C00000"/>
                </a:solidFill>
                <a:latin typeface="Courier New"/>
              </a:rPr>
              <a:t>&gt; </a:t>
            </a:r>
            <a:r>
              <a:rPr lang="en-US" sz="2000" dirty="0" smtClean="0">
                <a:latin typeface="Courier New"/>
              </a:rPr>
              <a:t>*/</a:t>
            </a:r>
            <a:endParaRPr lang="en-US" sz="2000" dirty="0">
              <a:latin typeface="Courier New"/>
            </a:endParaRPr>
          </a:p>
          <a:p>
            <a:pPr algn="just">
              <a:lnSpc>
                <a:spcPct val="150000"/>
              </a:lnSpc>
            </a:pPr>
            <a:endParaRPr lang="en-IN" sz="2000" dirty="0" smtClean="0"/>
          </a:p>
          <a:p>
            <a:pPr algn="just">
              <a:lnSpc>
                <a:spcPct val="150000"/>
              </a:lnSpc>
            </a:pPr>
            <a:r>
              <a:rPr lang="en-IN" sz="2000" dirty="0" smtClean="0"/>
              <a:t>public </a:t>
            </a:r>
            <a:r>
              <a:rPr lang="en-IN" sz="2000" dirty="0"/>
              <a:t>class </a:t>
            </a:r>
            <a:r>
              <a:rPr lang="en-IN" sz="2000" dirty="0" err="1">
                <a:solidFill>
                  <a:srgbClr val="C00000"/>
                </a:solidFill>
              </a:rPr>
              <a:t>MyApplet</a:t>
            </a:r>
            <a:r>
              <a:rPr lang="en-IN" sz="2000" dirty="0"/>
              <a:t> extends </a:t>
            </a:r>
            <a:r>
              <a:rPr lang="en-IN" sz="2000" dirty="0">
                <a:solidFill>
                  <a:srgbClr val="00B0F0"/>
                </a:solidFill>
              </a:rPr>
              <a:t>Applet</a:t>
            </a:r>
            <a:r>
              <a:rPr lang="en-IN" sz="2000" dirty="0"/>
              <a:t> </a:t>
            </a:r>
            <a:endParaRPr lang="en-IN" sz="2000" dirty="0" smtClean="0"/>
          </a:p>
          <a:p>
            <a:pPr algn="just">
              <a:lnSpc>
                <a:spcPct val="150000"/>
              </a:lnSpc>
            </a:pPr>
            <a:r>
              <a:rPr lang="en-IN" sz="2000" dirty="0" smtClean="0"/>
              <a:t>{ </a:t>
            </a:r>
          </a:p>
          <a:p>
            <a:pPr algn="just">
              <a:lnSpc>
                <a:spcPct val="150000"/>
              </a:lnSpc>
            </a:pPr>
            <a:r>
              <a:rPr lang="en-IN" sz="2000" dirty="0" smtClean="0"/>
              <a:t>public </a:t>
            </a:r>
            <a:r>
              <a:rPr lang="en-IN" sz="2000" dirty="0"/>
              <a:t>void paint(Graphics g) </a:t>
            </a:r>
            <a:endParaRPr lang="en-IN" sz="2000" dirty="0" smtClean="0"/>
          </a:p>
          <a:p>
            <a:pPr algn="just">
              <a:lnSpc>
                <a:spcPct val="150000"/>
              </a:lnSpc>
            </a:pPr>
            <a:r>
              <a:rPr lang="en-IN" sz="2000" dirty="0" smtClean="0"/>
              <a:t>{ </a:t>
            </a:r>
          </a:p>
          <a:p>
            <a:pPr algn="just">
              <a:lnSpc>
                <a:spcPct val="150000"/>
              </a:lnSpc>
            </a:pPr>
            <a:r>
              <a:rPr lang="en-IN" sz="2000" dirty="0" err="1" smtClean="0"/>
              <a:t>g.drawString</a:t>
            </a:r>
            <a:r>
              <a:rPr lang="en-IN" sz="2000" dirty="0" smtClean="0"/>
              <a:t>(“A Simple Applet", </a:t>
            </a:r>
            <a:r>
              <a:rPr lang="en-IN" sz="2000" dirty="0"/>
              <a:t>20, 20); </a:t>
            </a:r>
            <a:endParaRPr lang="en-IN" sz="2000" dirty="0" smtClean="0"/>
          </a:p>
          <a:p>
            <a:pPr algn="just">
              <a:lnSpc>
                <a:spcPct val="150000"/>
              </a:lnSpc>
            </a:pPr>
            <a:r>
              <a:rPr lang="en-IN" sz="2000" dirty="0" smtClean="0"/>
              <a:t>}</a:t>
            </a:r>
          </a:p>
          <a:p>
            <a:pPr algn="just">
              <a:lnSpc>
                <a:spcPct val="150000"/>
              </a:lnSpc>
            </a:pPr>
            <a:r>
              <a:rPr lang="en-US" sz="2000" dirty="0"/>
              <a:t>}</a:t>
            </a:r>
          </a:p>
        </p:txBody>
      </p:sp>
    </p:spTree>
    <p:custDataLst>
      <p:tags r:id="rId1"/>
    </p:custDataLst>
    <p:extLst>
      <p:ext uri="{BB962C8B-B14F-4D97-AF65-F5344CB8AC3E}">
        <p14:creationId xmlns:p14="http://schemas.microsoft.com/office/powerpoint/2010/main" val="835071048"/>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Applet Life Cycle in Java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Java Applet And Its Life Cycle – Its Java Hel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TextBox 3"/>
          <p:cNvSpPr txBox="1"/>
          <p:nvPr/>
        </p:nvSpPr>
        <p:spPr>
          <a:xfrm>
            <a:off x="1763688" y="5373216"/>
            <a:ext cx="3816424" cy="1200329"/>
          </a:xfrm>
          <a:prstGeom prst="rect">
            <a:avLst/>
          </a:prstGeom>
          <a:noFill/>
          <a:ln>
            <a:solidFill>
              <a:schemeClr val="accent1"/>
            </a:solidFill>
          </a:ln>
        </p:spPr>
        <p:txBody>
          <a:bodyPr wrap="square" rtlCol="0">
            <a:spAutoFit/>
          </a:bodyPr>
          <a:lstStyle/>
          <a:p>
            <a:r>
              <a:rPr lang="en-US" dirty="0" smtClean="0"/>
              <a:t>Command Prompt:</a:t>
            </a:r>
          </a:p>
          <a:p>
            <a:pPr>
              <a:lnSpc>
                <a:spcPct val="150000"/>
              </a:lnSpc>
            </a:pPr>
            <a:r>
              <a:rPr lang="en-US" b="1" dirty="0">
                <a:solidFill>
                  <a:srgbClr val="FF0000"/>
                </a:solidFill>
              </a:rPr>
              <a:t>c:\&gt;</a:t>
            </a:r>
            <a:r>
              <a:rPr lang="en-US" dirty="0">
                <a:solidFill>
                  <a:srgbClr val="FF0000"/>
                </a:solidFill>
              </a:rPr>
              <a:t>javac </a:t>
            </a:r>
            <a:r>
              <a:rPr lang="en-US" dirty="0" smtClean="0">
                <a:solidFill>
                  <a:srgbClr val="FF0000"/>
                </a:solidFill>
              </a:rPr>
              <a:t>MyApplet.java </a:t>
            </a:r>
            <a:endParaRPr lang="en-US" dirty="0">
              <a:solidFill>
                <a:srgbClr val="FF0000"/>
              </a:solidFill>
            </a:endParaRPr>
          </a:p>
          <a:p>
            <a:pPr>
              <a:lnSpc>
                <a:spcPct val="150000"/>
              </a:lnSpc>
            </a:pPr>
            <a:r>
              <a:rPr lang="en-US" b="1" dirty="0">
                <a:solidFill>
                  <a:srgbClr val="FF0000"/>
                </a:solidFill>
              </a:rPr>
              <a:t>c:\&gt;</a:t>
            </a:r>
            <a:r>
              <a:rPr lang="en-US" dirty="0">
                <a:solidFill>
                  <a:srgbClr val="FF0000"/>
                </a:solidFill>
              </a:rPr>
              <a:t>appletviewer </a:t>
            </a:r>
            <a:r>
              <a:rPr lang="en-US" dirty="0" smtClean="0">
                <a:solidFill>
                  <a:srgbClr val="FF0000"/>
                </a:solidFill>
              </a:rPr>
              <a:t>Simple.java</a:t>
            </a:r>
            <a:endParaRPr lang="en-IN" dirty="0"/>
          </a:p>
        </p:txBody>
      </p:sp>
      <p:pic>
        <p:nvPicPr>
          <p:cNvPr id="3074" name="Picture 2" descr="E:\JAVA PPT\applet op1.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3648" y="548680"/>
            <a:ext cx="5544616" cy="468052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99275621"/>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620688"/>
            <a:ext cx="8496944" cy="6463308"/>
          </a:xfrm>
          <a:prstGeom prst="rect">
            <a:avLst/>
          </a:prstGeom>
        </p:spPr>
        <p:txBody>
          <a:bodyPr wrap="square">
            <a:spAutoFit/>
          </a:bodyPr>
          <a:lstStyle/>
          <a:p>
            <a:r>
              <a:rPr lang="en-IN" dirty="0"/>
              <a:t>import </a:t>
            </a:r>
            <a:r>
              <a:rPr lang="en-IN" dirty="0" err="1"/>
              <a:t>java.applet.Applet</a:t>
            </a:r>
            <a:r>
              <a:rPr lang="en-IN" dirty="0"/>
              <a:t>;</a:t>
            </a:r>
          </a:p>
          <a:p>
            <a:r>
              <a:rPr lang="en-IN" dirty="0"/>
              <a:t>import </a:t>
            </a:r>
            <a:r>
              <a:rPr lang="en-IN" dirty="0" err="1"/>
              <a:t>java.awt.Graphics</a:t>
            </a:r>
            <a:r>
              <a:rPr lang="en-IN" dirty="0" smtClean="0"/>
              <a:t>;</a:t>
            </a:r>
          </a:p>
          <a:p>
            <a:endParaRPr lang="en-IN" dirty="0"/>
          </a:p>
          <a:p>
            <a:r>
              <a:rPr lang="en-IN" dirty="0" smtClean="0"/>
              <a:t>public </a:t>
            </a:r>
            <a:r>
              <a:rPr lang="en-IN" dirty="0"/>
              <a:t>class </a:t>
            </a:r>
            <a:r>
              <a:rPr lang="en-IN" dirty="0" err="1"/>
              <a:t>StatusApplet</a:t>
            </a:r>
            <a:r>
              <a:rPr lang="en-IN" dirty="0"/>
              <a:t> extends Applet {</a:t>
            </a:r>
          </a:p>
          <a:p>
            <a:r>
              <a:rPr lang="en-IN" dirty="0" smtClean="0"/>
              <a:t>    </a:t>
            </a:r>
            <a:r>
              <a:rPr lang="en-IN" dirty="0"/>
              <a:t>public void </a:t>
            </a:r>
            <a:r>
              <a:rPr lang="en-IN" dirty="0" err="1"/>
              <a:t>init</a:t>
            </a:r>
            <a:r>
              <a:rPr lang="en-IN" dirty="0"/>
              <a:t>() {</a:t>
            </a:r>
          </a:p>
          <a:p>
            <a:r>
              <a:rPr lang="en-IN" dirty="0"/>
              <a:t>        </a:t>
            </a:r>
            <a:r>
              <a:rPr lang="en-IN" dirty="0" err="1"/>
              <a:t>showStatus</a:t>
            </a:r>
            <a:r>
              <a:rPr lang="en-IN" dirty="0"/>
              <a:t>("Initializing applet...");</a:t>
            </a:r>
          </a:p>
          <a:p>
            <a:r>
              <a:rPr lang="en-IN" dirty="0"/>
              <a:t>    }</a:t>
            </a:r>
          </a:p>
          <a:p>
            <a:r>
              <a:rPr lang="en-IN" dirty="0" smtClean="0"/>
              <a:t>    </a:t>
            </a:r>
            <a:r>
              <a:rPr lang="en-IN" dirty="0"/>
              <a:t>public void start() {</a:t>
            </a:r>
          </a:p>
          <a:p>
            <a:r>
              <a:rPr lang="en-IN" dirty="0"/>
              <a:t>        </a:t>
            </a:r>
            <a:r>
              <a:rPr lang="en-IN" dirty="0" err="1"/>
              <a:t>showStatus</a:t>
            </a:r>
            <a:r>
              <a:rPr lang="en-IN" dirty="0"/>
              <a:t>("Starting applet...");</a:t>
            </a:r>
          </a:p>
          <a:p>
            <a:r>
              <a:rPr lang="en-IN" dirty="0"/>
              <a:t>    }</a:t>
            </a:r>
          </a:p>
          <a:p>
            <a:r>
              <a:rPr lang="en-IN" dirty="0" smtClean="0"/>
              <a:t>    </a:t>
            </a:r>
            <a:r>
              <a:rPr lang="en-IN" dirty="0"/>
              <a:t>public void stop() {</a:t>
            </a:r>
          </a:p>
          <a:p>
            <a:r>
              <a:rPr lang="en-IN" dirty="0"/>
              <a:t>        </a:t>
            </a:r>
            <a:r>
              <a:rPr lang="en-IN" dirty="0" err="1"/>
              <a:t>showStatus</a:t>
            </a:r>
            <a:r>
              <a:rPr lang="en-IN" dirty="0"/>
              <a:t>("Stopping applet...");</a:t>
            </a:r>
          </a:p>
          <a:p>
            <a:r>
              <a:rPr lang="en-IN" dirty="0"/>
              <a:t>    }</a:t>
            </a:r>
          </a:p>
          <a:p>
            <a:r>
              <a:rPr lang="en-IN" dirty="0" smtClean="0"/>
              <a:t>    </a:t>
            </a:r>
            <a:r>
              <a:rPr lang="en-IN" dirty="0"/>
              <a:t>public void destroy() {</a:t>
            </a:r>
          </a:p>
          <a:p>
            <a:r>
              <a:rPr lang="en-IN" dirty="0"/>
              <a:t>        </a:t>
            </a:r>
            <a:r>
              <a:rPr lang="en-IN" dirty="0" err="1"/>
              <a:t>showStatus</a:t>
            </a:r>
            <a:r>
              <a:rPr lang="en-IN" dirty="0"/>
              <a:t>("Destroying applet...");</a:t>
            </a:r>
          </a:p>
          <a:p>
            <a:r>
              <a:rPr lang="en-IN" dirty="0"/>
              <a:t>    }</a:t>
            </a:r>
          </a:p>
          <a:p>
            <a:r>
              <a:rPr lang="en-IN" dirty="0" smtClean="0"/>
              <a:t>   </a:t>
            </a:r>
            <a:r>
              <a:rPr lang="en-IN" dirty="0"/>
              <a:t>public void paint(Graphics g) </a:t>
            </a:r>
          </a:p>
          <a:p>
            <a:r>
              <a:rPr lang="en-IN" dirty="0"/>
              <a:t>{ </a:t>
            </a:r>
          </a:p>
          <a:p>
            <a:r>
              <a:rPr lang="en-IN" dirty="0" err="1"/>
              <a:t>g.drawString</a:t>
            </a:r>
            <a:r>
              <a:rPr lang="en-IN" dirty="0"/>
              <a:t>("Hello, World!", 20, 20); </a:t>
            </a:r>
          </a:p>
          <a:p>
            <a:r>
              <a:rPr lang="en-IN" dirty="0" smtClean="0"/>
              <a:t>}   } </a:t>
            </a:r>
          </a:p>
          <a:p>
            <a:r>
              <a:rPr lang="en-IN" dirty="0" smtClean="0"/>
              <a:t>/*</a:t>
            </a:r>
            <a:r>
              <a:rPr lang="en-US" dirty="0" smtClean="0"/>
              <a:t>&lt;</a:t>
            </a:r>
            <a:r>
              <a:rPr lang="en-US" dirty="0"/>
              <a:t>applet code="</a:t>
            </a:r>
            <a:r>
              <a:rPr lang="en-US" dirty="0" err="1"/>
              <a:t>StatusApplet.class</a:t>
            </a:r>
            <a:r>
              <a:rPr lang="en-US" dirty="0"/>
              <a:t>" width="300" height="200"&gt;</a:t>
            </a:r>
          </a:p>
          <a:p>
            <a:r>
              <a:rPr lang="en-US" dirty="0" smtClean="0"/>
              <a:t>&lt;/</a:t>
            </a:r>
            <a:r>
              <a:rPr lang="en-US" dirty="0"/>
              <a:t>applet</a:t>
            </a:r>
            <a:r>
              <a:rPr lang="en-US" dirty="0" smtClean="0"/>
              <a:t>&gt;*/</a:t>
            </a:r>
            <a:endParaRPr lang="en-US" dirty="0"/>
          </a:p>
          <a:p>
            <a:endParaRPr lang="en-IN" dirty="0"/>
          </a:p>
        </p:txBody>
      </p:sp>
      <p:sp>
        <p:nvSpPr>
          <p:cNvPr id="5" name="TextBox 4"/>
          <p:cNvSpPr txBox="1"/>
          <p:nvPr/>
        </p:nvSpPr>
        <p:spPr>
          <a:xfrm>
            <a:off x="5148064" y="980728"/>
            <a:ext cx="3384376" cy="1015663"/>
          </a:xfrm>
          <a:prstGeom prst="rect">
            <a:avLst/>
          </a:prstGeom>
          <a:noFill/>
          <a:ln>
            <a:solidFill>
              <a:schemeClr val="accent1"/>
            </a:solidFill>
          </a:ln>
        </p:spPr>
        <p:txBody>
          <a:bodyPr wrap="square" rtlCol="0">
            <a:spAutoFit/>
          </a:bodyPr>
          <a:lstStyle/>
          <a:p>
            <a:pPr algn="ctr"/>
            <a:r>
              <a:rPr lang="en-US" sz="2000" b="1" dirty="0" smtClean="0">
                <a:solidFill>
                  <a:schemeClr val="accent6">
                    <a:lumMod val="50000"/>
                  </a:schemeClr>
                </a:solidFill>
              </a:rPr>
              <a:t>Applet program to show all life cycle methods of applet</a:t>
            </a:r>
            <a:endParaRPr lang="en-IN" sz="2000" b="1" dirty="0">
              <a:solidFill>
                <a:schemeClr val="accent6">
                  <a:lumMod val="50000"/>
                </a:schemeClr>
              </a:solidFill>
            </a:endParaRPr>
          </a:p>
        </p:txBody>
      </p:sp>
    </p:spTree>
    <p:extLst>
      <p:ext uri="{BB962C8B-B14F-4D97-AF65-F5344CB8AC3E}">
        <p14:creationId xmlns:p14="http://schemas.microsoft.com/office/powerpoint/2010/main" val="3667032655"/>
      </p:ext>
    </p:extLst>
  </p:cSld>
  <p:clrMapOvr>
    <a:masterClrMapping/>
  </p:clrMapOvr>
  <p:transition spd="slow">
    <p:fad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763688" y="5373216"/>
            <a:ext cx="3816424" cy="1200329"/>
          </a:xfrm>
          <a:prstGeom prst="rect">
            <a:avLst/>
          </a:prstGeom>
          <a:noFill/>
          <a:ln>
            <a:solidFill>
              <a:schemeClr val="accent1"/>
            </a:solidFill>
          </a:ln>
        </p:spPr>
        <p:txBody>
          <a:bodyPr wrap="square" rtlCol="0">
            <a:spAutoFit/>
          </a:bodyPr>
          <a:lstStyle/>
          <a:p>
            <a:r>
              <a:rPr lang="en-US" dirty="0" smtClean="0"/>
              <a:t>Command Prompt:</a:t>
            </a:r>
          </a:p>
          <a:p>
            <a:pPr>
              <a:lnSpc>
                <a:spcPct val="150000"/>
              </a:lnSpc>
            </a:pPr>
            <a:r>
              <a:rPr lang="en-US" b="1" dirty="0">
                <a:solidFill>
                  <a:srgbClr val="FF0000"/>
                </a:solidFill>
              </a:rPr>
              <a:t>c:\&gt;</a:t>
            </a:r>
            <a:r>
              <a:rPr lang="en-US" dirty="0">
                <a:solidFill>
                  <a:srgbClr val="FF0000"/>
                </a:solidFill>
              </a:rPr>
              <a:t>javac </a:t>
            </a:r>
            <a:r>
              <a:rPr lang="en-US" dirty="0" smtClean="0">
                <a:solidFill>
                  <a:srgbClr val="FF0000"/>
                </a:solidFill>
              </a:rPr>
              <a:t>MyApplet.java </a:t>
            </a:r>
            <a:endParaRPr lang="en-US" dirty="0">
              <a:solidFill>
                <a:srgbClr val="FF0000"/>
              </a:solidFill>
            </a:endParaRPr>
          </a:p>
          <a:p>
            <a:pPr>
              <a:lnSpc>
                <a:spcPct val="150000"/>
              </a:lnSpc>
            </a:pPr>
            <a:r>
              <a:rPr lang="en-US" b="1" dirty="0">
                <a:solidFill>
                  <a:srgbClr val="FF0000"/>
                </a:solidFill>
              </a:rPr>
              <a:t>c:\&gt;</a:t>
            </a:r>
            <a:r>
              <a:rPr lang="en-US" dirty="0">
                <a:solidFill>
                  <a:srgbClr val="FF0000"/>
                </a:solidFill>
              </a:rPr>
              <a:t>appletviewer </a:t>
            </a:r>
            <a:r>
              <a:rPr lang="en-US" dirty="0" smtClean="0">
                <a:solidFill>
                  <a:srgbClr val="FF0000"/>
                </a:solidFill>
              </a:rPr>
              <a:t>Simple.java</a:t>
            </a:r>
            <a:endParaRPr lang="en-IN" dirty="0"/>
          </a:p>
        </p:txBody>
      </p:sp>
      <p:pic>
        <p:nvPicPr>
          <p:cNvPr id="4099" name="Picture 3" descr="E:\JAVA PPT\applet op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476672"/>
            <a:ext cx="6624736" cy="4622055"/>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5613825"/>
      </p:ext>
    </p:extLst>
  </p:cSld>
  <p:clrMapOvr>
    <a:masterClrMapping/>
  </p:clrMapOvr>
  <p:transition spd="slow">
    <p:fade/>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332656"/>
            <a:ext cx="8229600" cy="914400"/>
          </a:xfrm>
        </p:spPr>
        <p:txBody>
          <a:bodyPr>
            <a:noAutofit/>
          </a:bodyPr>
          <a:lstStyle/>
          <a:p>
            <a:pPr algn="ctr"/>
            <a:r>
              <a:rPr lang="en-US" sz="2400" u="sng" dirty="0" smtClean="0">
                <a:solidFill>
                  <a:srgbClr val="0070C0"/>
                </a:solidFill>
              </a:rPr>
              <a:t>Background and Foreground</a:t>
            </a:r>
            <a:r>
              <a:rPr lang="en-IN" sz="2400" dirty="0"/>
              <a:t/>
            </a:r>
            <a:br>
              <a:rPr lang="en-IN" sz="2400" dirty="0"/>
            </a:br>
            <a:r>
              <a:rPr lang="en-IN" sz="2400" b="1" u="sng" dirty="0">
                <a:solidFill>
                  <a:srgbClr val="0070C0"/>
                </a:solidFill>
              </a:rPr>
              <a:t/>
            </a:r>
            <a:br>
              <a:rPr lang="en-IN" sz="2400" b="1" u="sng" dirty="0">
                <a:solidFill>
                  <a:srgbClr val="0070C0"/>
                </a:solidFill>
              </a:rPr>
            </a:br>
            <a:r>
              <a:rPr lang="en-IN" sz="2000" b="1" dirty="0">
                <a:solidFill>
                  <a:srgbClr val="7030A0"/>
                </a:solidFill>
              </a:rPr>
              <a:t/>
            </a:r>
            <a:br>
              <a:rPr lang="en-IN" sz="2000" b="1" dirty="0">
                <a:solidFill>
                  <a:srgbClr val="7030A0"/>
                </a:solidFill>
              </a:rPr>
            </a:br>
            <a:r>
              <a:rPr lang="en-IN" sz="2000" b="1" dirty="0">
                <a:solidFill>
                  <a:srgbClr val="7030A0"/>
                </a:solidFill>
              </a:rPr>
              <a:t/>
            </a:r>
            <a:br>
              <a:rPr lang="en-IN" sz="2000" b="1" dirty="0">
                <a:solidFill>
                  <a:srgbClr val="7030A0"/>
                </a:solidFill>
              </a:rPr>
            </a:br>
            <a:endParaRPr lang="en-IN" sz="2000" b="1" dirty="0">
              <a:solidFill>
                <a:srgbClr val="7030A0"/>
              </a:solidFill>
            </a:endParaRPr>
          </a:p>
        </p:txBody>
      </p:sp>
      <p:sp>
        <p:nvSpPr>
          <p:cNvPr id="3" name="Rectangle 2"/>
          <p:cNvSpPr/>
          <p:nvPr/>
        </p:nvSpPr>
        <p:spPr>
          <a:xfrm>
            <a:off x="899592" y="908720"/>
            <a:ext cx="8064896" cy="5632311"/>
          </a:xfrm>
          <a:prstGeom prst="rect">
            <a:avLst/>
          </a:prstGeom>
        </p:spPr>
        <p:txBody>
          <a:bodyPr wrap="square">
            <a:spAutoFit/>
          </a:bodyPr>
          <a:lstStyle/>
          <a:p>
            <a:r>
              <a:rPr lang="en-IN" sz="2000" b="1" dirty="0"/>
              <a:t>import</a:t>
            </a:r>
            <a:r>
              <a:rPr lang="en-IN" sz="2000" dirty="0"/>
              <a:t> </a:t>
            </a:r>
            <a:r>
              <a:rPr lang="en-IN" sz="2000" dirty="0" err="1"/>
              <a:t>java.applet.Applet</a:t>
            </a:r>
            <a:r>
              <a:rPr lang="en-IN" sz="2000" dirty="0"/>
              <a:t>;  </a:t>
            </a:r>
          </a:p>
          <a:p>
            <a:r>
              <a:rPr lang="en-IN" sz="2000" b="1" dirty="0"/>
              <a:t>import</a:t>
            </a:r>
            <a:r>
              <a:rPr lang="en-IN" sz="2000" dirty="0"/>
              <a:t> </a:t>
            </a:r>
            <a:r>
              <a:rPr lang="en-IN" sz="2000" dirty="0" err="1" smtClean="0"/>
              <a:t>java.awt</a:t>
            </a:r>
            <a:r>
              <a:rPr lang="en-IN" sz="2000" dirty="0" smtClean="0"/>
              <a:t>.*;</a:t>
            </a:r>
            <a:r>
              <a:rPr lang="en-IN" sz="2000" dirty="0"/>
              <a:t>  </a:t>
            </a:r>
          </a:p>
          <a:p>
            <a:r>
              <a:rPr lang="en-IN" sz="2000" dirty="0"/>
              <a:t>  </a:t>
            </a:r>
          </a:p>
          <a:p>
            <a:r>
              <a:rPr lang="en-IN" sz="2000" b="1" dirty="0"/>
              <a:t>public</a:t>
            </a:r>
            <a:r>
              <a:rPr lang="en-IN" sz="2000" dirty="0"/>
              <a:t> </a:t>
            </a:r>
            <a:r>
              <a:rPr lang="en-IN" sz="2000" b="1" dirty="0"/>
              <a:t>class</a:t>
            </a:r>
            <a:r>
              <a:rPr lang="en-IN" sz="2000" dirty="0"/>
              <a:t> </a:t>
            </a:r>
            <a:r>
              <a:rPr lang="en-IN" sz="2000" dirty="0" err="1" smtClean="0"/>
              <a:t>MyApplet</a:t>
            </a:r>
            <a:r>
              <a:rPr lang="en-IN" sz="2000" dirty="0"/>
              <a:t> </a:t>
            </a:r>
            <a:r>
              <a:rPr lang="en-IN" sz="2000" b="1" dirty="0"/>
              <a:t>extends</a:t>
            </a:r>
            <a:r>
              <a:rPr lang="en-IN" sz="2000" dirty="0"/>
              <a:t> Applet{  </a:t>
            </a:r>
          </a:p>
          <a:p>
            <a:pPr algn="just"/>
            <a:r>
              <a:rPr lang="en-IN" sz="2000" dirty="0"/>
              <a:t> public void </a:t>
            </a:r>
            <a:r>
              <a:rPr lang="en-IN" sz="2000" dirty="0" err="1"/>
              <a:t>init</a:t>
            </a:r>
            <a:r>
              <a:rPr lang="en-IN" sz="2000" dirty="0"/>
              <a:t>() </a:t>
            </a:r>
            <a:endParaRPr lang="en-IN" sz="2000" dirty="0" smtClean="0"/>
          </a:p>
          <a:p>
            <a:pPr algn="just"/>
            <a:r>
              <a:rPr lang="en-IN" sz="2000" dirty="0" smtClean="0"/>
              <a:t>{</a:t>
            </a:r>
            <a:endParaRPr lang="en-IN" sz="2000" dirty="0"/>
          </a:p>
          <a:p>
            <a:pPr algn="just"/>
            <a:r>
              <a:rPr lang="en-IN" sz="2000" dirty="0"/>
              <a:t>	</a:t>
            </a:r>
            <a:r>
              <a:rPr lang="en-IN" sz="2000" dirty="0" err="1"/>
              <a:t>setBackground</a:t>
            </a:r>
            <a:r>
              <a:rPr lang="en-IN" sz="2000" dirty="0"/>
              <a:t>(</a:t>
            </a:r>
            <a:r>
              <a:rPr lang="en-IN" sz="2000" dirty="0" err="1"/>
              <a:t>Color.red</a:t>
            </a:r>
            <a:r>
              <a:rPr lang="en-IN" sz="2000" dirty="0"/>
              <a:t>);</a:t>
            </a:r>
          </a:p>
          <a:p>
            <a:pPr algn="just"/>
            <a:r>
              <a:rPr lang="en-IN" sz="2000" dirty="0"/>
              <a:t>	</a:t>
            </a:r>
            <a:r>
              <a:rPr lang="en-IN" sz="2000" dirty="0" err="1"/>
              <a:t>setForeground</a:t>
            </a:r>
            <a:r>
              <a:rPr lang="en-IN" sz="2000" dirty="0"/>
              <a:t>(</a:t>
            </a:r>
            <a:r>
              <a:rPr lang="en-IN" sz="2000" dirty="0" err="1"/>
              <a:t>Color.green</a:t>
            </a:r>
            <a:r>
              <a:rPr lang="en-IN" sz="2000" dirty="0"/>
              <a:t>);</a:t>
            </a:r>
          </a:p>
          <a:p>
            <a:pPr algn="just"/>
            <a:r>
              <a:rPr lang="en-IN" sz="2000" dirty="0"/>
              <a:t>  } </a:t>
            </a:r>
          </a:p>
          <a:p>
            <a:pPr algn="just">
              <a:lnSpc>
                <a:spcPct val="150000"/>
              </a:lnSpc>
            </a:pPr>
            <a:r>
              <a:rPr lang="en-IN" sz="2000" dirty="0"/>
              <a:t>public void paint(Graphics g) </a:t>
            </a:r>
          </a:p>
          <a:p>
            <a:pPr algn="just">
              <a:lnSpc>
                <a:spcPct val="150000"/>
              </a:lnSpc>
            </a:pPr>
            <a:r>
              <a:rPr lang="en-IN" sz="2000" dirty="0"/>
              <a:t>{ </a:t>
            </a:r>
          </a:p>
          <a:p>
            <a:pPr algn="just">
              <a:lnSpc>
                <a:spcPct val="150000"/>
              </a:lnSpc>
            </a:pPr>
            <a:r>
              <a:rPr lang="en-IN" sz="2000" dirty="0" err="1"/>
              <a:t>g.drawString</a:t>
            </a:r>
            <a:r>
              <a:rPr lang="en-IN" sz="2000" dirty="0" smtClean="0"/>
              <a:t>(“Welcome to Applet</a:t>
            </a:r>
            <a:r>
              <a:rPr lang="en-IN" sz="2000" dirty="0"/>
              <a:t>", 20, 20); </a:t>
            </a:r>
          </a:p>
          <a:p>
            <a:pPr algn="just">
              <a:lnSpc>
                <a:spcPct val="150000"/>
              </a:lnSpc>
            </a:pPr>
            <a:r>
              <a:rPr lang="en-IN" sz="2000" dirty="0"/>
              <a:t>}</a:t>
            </a:r>
          </a:p>
          <a:p>
            <a:r>
              <a:rPr lang="en-IN" sz="2000" dirty="0" smtClean="0"/>
              <a:t>}</a:t>
            </a:r>
            <a:r>
              <a:rPr lang="en-IN" sz="2000" dirty="0"/>
              <a:t>  </a:t>
            </a:r>
            <a:endParaRPr lang="en-IN" sz="2000" dirty="0" smtClean="0"/>
          </a:p>
          <a:p>
            <a:r>
              <a:rPr lang="en-US" sz="2000" dirty="0" smtClean="0"/>
              <a:t>/*&lt;</a:t>
            </a:r>
            <a:r>
              <a:rPr lang="en-US" sz="2000" dirty="0"/>
              <a:t>applet code</a:t>
            </a:r>
            <a:r>
              <a:rPr lang="en-US" sz="2000" dirty="0" smtClean="0"/>
              <a:t>="</a:t>
            </a:r>
            <a:r>
              <a:rPr lang="en-IN" sz="2000" dirty="0"/>
              <a:t> </a:t>
            </a:r>
            <a:r>
              <a:rPr lang="en-IN" sz="2000" dirty="0" err="1"/>
              <a:t>MyApplet</a:t>
            </a:r>
            <a:r>
              <a:rPr lang="en-US" sz="2000" dirty="0" smtClean="0">
                <a:solidFill>
                  <a:srgbClr val="0070C0"/>
                </a:solidFill>
              </a:rPr>
              <a:t>.</a:t>
            </a:r>
            <a:r>
              <a:rPr lang="en-US" sz="2000" dirty="0" smtClean="0"/>
              <a:t>class</a:t>
            </a:r>
            <a:r>
              <a:rPr lang="en-US" sz="2000" dirty="0"/>
              <a:t>" width="300" height="300"&gt;  </a:t>
            </a:r>
          </a:p>
          <a:p>
            <a:r>
              <a:rPr lang="en-US" sz="2000" dirty="0" smtClean="0"/>
              <a:t>&lt;/</a:t>
            </a:r>
            <a:r>
              <a:rPr lang="en-US" sz="2000" dirty="0"/>
              <a:t>applet</a:t>
            </a:r>
            <a:r>
              <a:rPr lang="en-US" sz="2000" dirty="0" smtClean="0"/>
              <a:t>&gt; */</a:t>
            </a:r>
            <a:endParaRPr lang="en-IN" sz="2000" dirty="0"/>
          </a:p>
        </p:txBody>
      </p:sp>
    </p:spTree>
    <p:custDataLst>
      <p:tags r:id="rId1"/>
    </p:custDataLst>
    <p:extLst>
      <p:ext uri="{BB962C8B-B14F-4D97-AF65-F5344CB8AC3E}">
        <p14:creationId xmlns:p14="http://schemas.microsoft.com/office/powerpoint/2010/main" val="42484098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2" descr="Applet Life Cycle in Java - Javatpoin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5" name="AutoShape 4" descr="Java Applet And Its Life Cycle – Its Java Help"/>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TextBox 6"/>
          <p:cNvSpPr txBox="1"/>
          <p:nvPr/>
        </p:nvSpPr>
        <p:spPr>
          <a:xfrm>
            <a:off x="1979712" y="5122952"/>
            <a:ext cx="3816424" cy="1246495"/>
          </a:xfrm>
          <a:prstGeom prst="rect">
            <a:avLst/>
          </a:prstGeom>
          <a:noFill/>
          <a:ln>
            <a:solidFill>
              <a:schemeClr val="accent1"/>
            </a:solidFill>
          </a:ln>
        </p:spPr>
        <p:txBody>
          <a:bodyPr wrap="square" rtlCol="0">
            <a:spAutoFit/>
          </a:bodyPr>
          <a:lstStyle/>
          <a:p>
            <a:r>
              <a:rPr lang="en-US" dirty="0" smtClean="0"/>
              <a:t>Command Prompt:</a:t>
            </a:r>
          </a:p>
          <a:p>
            <a:pPr>
              <a:lnSpc>
                <a:spcPct val="150000"/>
              </a:lnSpc>
            </a:pPr>
            <a:r>
              <a:rPr lang="en-US" b="1" dirty="0">
                <a:solidFill>
                  <a:srgbClr val="FF0000"/>
                </a:solidFill>
              </a:rPr>
              <a:t>c:\&gt;</a:t>
            </a:r>
            <a:r>
              <a:rPr lang="en-US" dirty="0">
                <a:solidFill>
                  <a:srgbClr val="FF0000"/>
                </a:solidFill>
              </a:rPr>
              <a:t>javac </a:t>
            </a:r>
            <a:r>
              <a:rPr lang="en-IN" dirty="0" err="1"/>
              <a:t>MyApplet</a:t>
            </a:r>
            <a:r>
              <a:rPr lang="en-US" dirty="0" smtClean="0">
                <a:solidFill>
                  <a:srgbClr val="FF0000"/>
                </a:solidFill>
              </a:rPr>
              <a:t>.java </a:t>
            </a:r>
            <a:endParaRPr lang="en-US" dirty="0">
              <a:solidFill>
                <a:srgbClr val="FF0000"/>
              </a:solidFill>
            </a:endParaRPr>
          </a:p>
          <a:p>
            <a:pPr>
              <a:lnSpc>
                <a:spcPct val="150000"/>
              </a:lnSpc>
            </a:pPr>
            <a:r>
              <a:rPr lang="en-US" b="1" dirty="0">
                <a:solidFill>
                  <a:srgbClr val="FF0000"/>
                </a:solidFill>
              </a:rPr>
              <a:t>c:\&gt;</a:t>
            </a:r>
            <a:r>
              <a:rPr lang="en-US" dirty="0">
                <a:solidFill>
                  <a:srgbClr val="FF0000"/>
                </a:solidFill>
              </a:rPr>
              <a:t>appletviewer </a:t>
            </a:r>
            <a:r>
              <a:rPr lang="en-IN" dirty="0" err="1"/>
              <a:t>MyApplet</a:t>
            </a:r>
            <a:r>
              <a:rPr lang="en-US" dirty="0" smtClean="0">
                <a:solidFill>
                  <a:srgbClr val="FF0000"/>
                </a:solidFill>
              </a:rPr>
              <a:t>.java</a:t>
            </a:r>
            <a:endParaRPr lang="en-IN" dirty="0"/>
          </a:p>
        </p:txBody>
      </p:sp>
      <p:pic>
        <p:nvPicPr>
          <p:cNvPr id="1026" name="Picture 2" descr="C:\Users\!TDEPT\Desktop\Java AIML\ABC1\getparameter.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1680" y="548680"/>
            <a:ext cx="4840975" cy="403351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4276773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VSECTIONID" val="6QLnjpDmemWvdkPv8CNhLB"/>
</p:tagLst>
</file>

<file path=ppt/tags/tag2.xml><?xml version="1.0" encoding="utf-8"?>
<p:tagLst xmlns:a="http://schemas.openxmlformats.org/drawingml/2006/main" xmlns:r="http://schemas.openxmlformats.org/officeDocument/2006/relationships" xmlns:p="http://schemas.openxmlformats.org/presentationml/2006/main">
  <p:tag name="DVSHAPEID" val="K4nqtrpMJHznzW6iQWuGbY"/>
</p:tagLst>
</file>

<file path=ppt/tags/tag3.xml><?xml version="1.0" encoding="utf-8"?>
<p:tagLst xmlns:a="http://schemas.openxmlformats.org/drawingml/2006/main" xmlns:r="http://schemas.openxmlformats.org/officeDocument/2006/relationships" xmlns:p="http://schemas.openxmlformats.org/presentationml/2006/main">
  <p:tag name="DVSHAPEID" val="9TlgkWg9GbD75tZxSe07Sl"/>
</p:tagLst>
</file>

<file path=ppt/tags/tag4.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ags/tag5.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ags/tag6.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ags/tag7.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ags/tag8.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ags/tag9.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ags/tag10.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ags/tag11.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ags/tag12.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ags/tag13.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ags/tag14.xml><?xml version="1.0" encoding="utf-8"?>
<p:tagLst xmlns:a="http://schemas.openxmlformats.org/drawingml/2006/main" xmlns:r="http://schemas.openxmlformats.org/officeDocument/2006/relationships" xmlns:p="http://schemas.openxmlformats.org/presentationml/2006/main">
  <p:tag name="DVSECTIONID" val="GeXH6ortg5F8MBDBCXffNY"/>
</p:tagLst>
</file>

<file path=ppt/theme/theme1.xml><?xml version="1.0" encoding="utf-8"?>
<a:theme xmlns:a="http://schemas.openxmlformats.org/drawingml/2006/main" name="Project Status Repor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ProjectStatusReport</Template>
  <TotalTime>0</TotalTime>
  <Words>1330</Words>
  <Application>Microsoft Office PowerPoint</Application>
  <PresentationFormat>On-screen Show (4:3)</PresentationFormat>
  <Paragraphs>187</Paragraphs>
  <Slides>14</Slides>
  <Notes>12</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Project Status Report</vt:lpstr>
      <vt:lpstr>Presentation on Java Programming (IT207G)</vt:lpstr>
      <vt:lpstr>Java Applet    </vt:lpstr>
      <vt:lpstr>Difference between Java Applet and Application    </vt:lpstr>
      <vt:lpstr> Applet Life Cycle    </vt:lpstr>
      <vt:lpstr> Applet Life Cycle Methods    </vt:lpstr>
      <vt:lpstr> How to run an Applet?    </vt:lpstr>
      <vt:lpstr> Basic guide to creating an applet program in Java   </vt:lpstr>
      <vt:lpstr>&lt;applet&gt; Tag  </vt:lpstr>
      <vt:lpstr>Simple Applet program </vt:lpstr>
      <vt:lpstr>PowerPoint Presentation</vt:lpstr>
      <vt:lpstr>PowerPoint Presentation</vt:lpstr>
      <vt:lpstr>PowerPoint Presentation</vt:lpstr>
      <vt:lpstr>Background and Foreground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2024-01-09T06:05:42Z</dcterms:created>
  <dcterms:modified xsi:type="dcterms:W3CDTF">2025-11-11T06:07:03Z</dcterms:modified>
</cp:coreProperties>
</file>