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2"/>
  </p:notesMasterIdLst>
  <p:sldIdLst>
    <p:sldId id="259" r:id="rId2"/>
    <p:sldId id="306" r:id="rId3"/>
    <p:sldId id="307" r:id="rId4"/>
    <p:sldId id="308" r:id="rId5"/>
    <p:sldId id="321" r:id="rId6"/>
    <p:sldId id="309" r:id="rId7"/>
    <p:sldId id="317" r:id="rId8"/>
    <p:sldId id="310" r:id="rId9"/>
    <p:sldId id="318" r:id="rId10"/>
    <p:sldId id="311" r:id="rId11"/>
    <p:sldId id="319" r:id="rId12"/>
    <p:sldId id="320" r:id="rId13"/>
    <p:sldId id="312" r:id="rId14"/>
    <p:sldId id="313" r:id="rId15"/>
    <p:sldId id="314" r:id="rId16"/>
    <p:sldId id="315" r:id="rId17"/>
    <p:sldId id="316" r:id="rId18"/>
    <p:sldId id="322" r:id="rId19"/>
    <p:sldId id="323" r:id="rId20"/>
    <p:sldId id="324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25" r:id="rId30"/>
    <p:sldId id="32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2832F5-EA01-48E5-B403-87E193F50680}">
          <p14:sldIdLst>
            <p14:sldId id="259"/>
          </p14:sldIdLst>
        </p14:section>
        <p14:section name="Project Overview" id="{087866C3-7028-482C-8D34-6BF5363FBD75}">
          <p14:sldIdLst/>
        </p14:section>
        <p14:section name="Status Update" id="{521DEF98-8796-4632-831A-16252E9A6054}">
          <p14:sldIdLst>
            <p14:sldId id="306"/>
            <p14:sldId id="307"/>
            <p14:sldId id="308"/>
            <p14:sldId id="321"/>
            <p14:sldId id="309"/>
            <p14:sldId id="317"/>
            <p14:sldId id="310"/>
            <p14:sldId id="318"/>
            <p14:sldId id="311"/>
            <p14:sldId id="319"/>
            <p14:sldId id="320"/>
            <p14:sldId id="312"/>
            <p14:sldId id="313"/>
            <p14:sldId id="314"/>
            <p14:sldId id="315"/>
            <p14:sldId id="316"/>
            <p14:sldId id="322"/>
            <p14:sldId id="323"/>
            <p14:sldId id="324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25"/>
            <p14:sldId id="326"/>
          </p14:sldIdLst>
        </p14:section>
        <p14:section name="Timeline" id="{CF24EBA6-C924-424D-AC31-A4B9992A87E0}">
          <p14:sldIdLst/>
        </p14:section>
        <p14:section name="Next Steps and Action Items" id="{C24C98EC-938D-4034-8DB8-5E8DBF16E3CB}">
          <p14:sldIdLst/>
        </p14:section>
        <p14:section name="Appendix" id="{E35CCD6A-2288-476E-BC93-C75323AE1F32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35" autoAdjust="0"/>
    <p:restoredTop sz="88187" autoAdjust="0"/>
  </p:normalViewPr>
  <p:slideViewPr>
    <p:cSldViewPr>
      <p:cViewPr varScale="1">
        <p:scale>
          <a:sx n="65" d="100"/>
          <a:sy n="65" d="100"/>
        </p:scale>
        <p:origin x="-1302" y="-96"/>
      </p:cViewPr>
      <p:guideLst>
        <p:guide orient="horz" pos="2160"/>
        <p:guide orient="horz" pos="576"/>
        <p:guide pos="288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506C0-3FFE-45A5-803D-9F4FC5464A7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46707-6BBD-41A9-B4DF-0C76A73A2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4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template can be used as a starter file to give updates for project</a:t>
            </a:r>
            <a:r>
              <a:rPr lang="en-US" baseline="0" dirty="0" smtClean="0"/>
              <a:t> milestones.</a:t>
            </a:r>
            <a:endParaRPr lang="en-US" dirty="0" smtClean="0"/>
          </a:p>
          <a:p>
            <a:endParaRPr lang="en-US" baseline="0" dirty="0" smtClean="0"/>
          </a:p>
          <a:p>
            <a:pPr lvl="0"/>
            <a:r>
              <a:rPr lang="en-US" sz="1000" b="1" dirty="0" smtClean="0"/>
              <a:t>Sections</a:t>
            </a:r>
            <a:endParaRPr lang="en-US" sz="1000" b="0" dirty="0" smtClean="0"/>
          </a:p>
          <a:p>
            <a:pPr lvl="0"/>
            <a:r>
              <a:rPr lang="en-US" sz="1000" b="0" dirty="0" smtClean="0"/>
              <a:t>Right-click on a slide to add sections.</a:t>
            </a:r>
            <a:r>
              <a:rPr lang="en-US" sz="1000" b="0" baseline="0" dirty="0" smtClean="0"/>
              <a:t> Sections can help to organize your slides or facilitate collaboration between multiple authors.</a:t>
            </a:r>
            <a:endParaRPr lang="en-US" sz="1000" b="0" dirty="0" smtClean="0"/>
          </a:p>
          <a:p>
            <a:pPr lvl="0"/>
            <a:endParaRPr lang="en-US" sz="1000" b="1" dirty="0" smtClean="0"/>
          </a:p>
          <a:p>
            <a:pPr lvl="0"/>
            <a:r>
              <a:rPr lang="en-US" sz="1000" b="1" dirty="0" smtClean="0"/>
              <a:t>Notes</a:t>
            </a:r>
          </a:p>
          <a:p>
            <a:pPr lvl="0"/>
            <a:r>
              <a:rPr lang="en-US" sz="1000" dirty="0" smtClean="0"/>
              <a:t>Use the Notes section for delivery notes or to provide additional details for the audience.</a:t>
            </a:r>
            <a:r>
              <a:rPr lang="en-US" sz="1000" baseline="0" dirty="0" smtClean="0"/>
              <a:t> View these notes in Presentation View during your presentation. </a:t>
            </a:r>
          </a:p>
          <a:p>
            <a:pPr lvl="0">
              <a:buFontTx/>
              <a:buNone/>
            </a:pPr>
            <a:r>
              <a:rPr lang="en-US" sz="1000" dirty="0" smtClean="0"/>
              <a:t>Keep in mind the font size (important for accessibility, visibility, videotaping, and online production)</a:t>
            </a:r>
          </a:p>
          <a:p>
            <a:pPr lvl="0"/>
            <a:endParaRPr lang="en-US" sz="1000" dirty="0" smtClean="0"/>
          </a:p>
          <a:p>
            <a:pPr lvl="0">
              <a:buFontTx/>
              <a:buNone/>
            </a:pPr>
            <a:r>
              <a:rPr lang="en-US" sz="1000" b="1" dirty="0" smtClean="0"/>
              <a:t>Coordinated colors </a:t>
            </a:r>
          </a:p>
          <a:p>
            <a:pPr lvl="0">
              <a:buFontTx/>
              <a:buNone/>
            </a:pPr>
            <a:r>
              <a:rPr lang="en-US" sz="1000" dirty="0" smtClean="0"/>
              <a:t>Pay particular attention to the graphs, charts, and text boxes.</a:t>
            </a:r>
            <a:r>
              <a:rPr lang="en-US" sz="1000" baseline="0" dirty="0" smtClean="0"/>
              <a:t> </a:t>
            </a:r>
            <a:endParaRPr lang="en-US" sz="1000" dirty="0" smtClean="0"/>
          </a:p>
          <a:p>
            <a:pPr lvl="0"/>
            <a:r>
              <a:rPr lang="en-US" sz="1000" dirty="0" smtClean="0"/>
              <a:t>Consider that attendees will print in black and white or </a:t>
            </a:r>
            <a:r>
              <a:rPr lang="en-US" sz="1000" dirty="0" err="1" smtClean="0"/>
              <a:t>grayscale</a:t>
            </a:r>
            <a:r>
              <a:rPr lang="en-US" sz="1000" dirty="0" smtClean="0"/>
              <a:t>. Run a test print to make sure your colors work when printed in pure black and white and </a:t>
            </a:r>
            <a:r>
              <a:rPr lang="en-US" sz="1000" dirty="0" err="1" smtClean="0"/>
              <a:t>grayscale</a:t>
            </a:r>
            <a:r>
              <a:rPr lang="en-US" sz="1000" dirty="0" smtClean="0"/>
              <a:t>.</a:t>
            </a:r>
          </a:p>
          <a:p>
            <a:pPr lvl="0">
              <a:buFontTx/>
              <a:buNone/>
            </a:pPr>
            <a:endParaRPr lang="en-US" sz="1000" dirty="0" smtClean="0"/>
          </a:p>
          <a:p>
            <a:pPr lvl="0">
              <a:buFontTx/>
              <a:buNone/>
            </a:pPr>
            <a:r>
              <a:rPr lang="en-US" sz="1000" b="1" dirty="0" smtClean="0"/>
              <a:t>Graphics, tables, and graphs</a:t>
            </a:r>
          </a:p>
          <a:p>
            <a:pPr lvl="0"/>
            <a:r>
              <a:rPr lang="en-US" sz="1000" dirty="0" smtClean="0"/>
              <a:t>Keep it simple: If possible, use consistent, non-distracting styles and colors.</a:t>
            </a:r>
          </a:p>
          <a:p>
            <a:pPr lvl="0"/>
            <a:r>
              <a:rPr lang="en-US" sz="1000" dirty="0" smtClean="0"/>
              <a:t>Label all graphs and tables.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Duplicate this slide as necessary if there is more than one issue.</a:t>
            </a:r>
          </a:p>
          <a:p>
            <a:r>
              <a:rPr lang="en-US" dirty="0" smtClean="0"/>
              <a:t>This and related slides</a:t>
            </a:r>
            <a:r>
              <a:rPr lang="en-US" baseline="0" dirty="0" smtClean="0"/>
              <a:t> can be moved to the appendix or hidden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0C3846-8D4C-4326-8BC7-9B455A03629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733203"/>
            <a:ext cx="9144000" cy="61247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7000" y="1295400"/>
            <a:ext cx="901373" cy="901373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1200" y="1905000"/>
            <a:ext cx="1240461" cy="1240461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5600" y="2209800"/>
            <a:ext cx="1828800" cy="1828800"/>
          </a:xfrm>
          <a:prstGeom prst="ellipse">
            <a:avLst/>
          </a:prstGeom>
          <a:ln>
            <a:noFill/>
          </a:ln>
          <a:effectLst>
            <a:outerShdw blurRad="292100" dist="76200" dir="2700000" algn="tl" rotWithShape="0">
              <a:srgbClr val="333333">
                <a:alpha val="50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1"/>
            <a:ext cx="7772400" cy="761999"/>
          </a:xfrm>
        </p:spPr>
        <p:txBody>
          <a:bodyPr anchor="t"/>
          <a:lstStyle>
            <a:lvl1pPr algn="l">
              <a:defRPr>
                <a:latin typeface="Georg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9948" y="1219200"/>
            <a:ext cx="5275052" cy="1295400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l="-92" t="50811" r="45394" b="-590"/>
          <a:stretch/>
        </p:blipFill>
        <p:spPr>
          <a:xfrm>
            <a:off x="-13648" y="0"/>
            <a:ext cx="9157648" cy="55822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" y="1066799"/>
            <a:ext cx="1979920" cy="2013807"/>
          </a:xfrm>
          <a:prstGeom prst="ellipse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68304" y="1905000"/>
            <a:ext cx="5105400" cy="1143001"/>
          </a:xfrm>
        </p:spPr>
        <p:txBody>
          <a:bodyPr anchor="b" anchorCtr="0">
            <a:normAutofit/>
          </a:bodyPr>
          <a:lstStyle>
            <a:lvl1pPr algn="l">
              <a:defRPr sz="3600" b="0" cap="none">
                <a:latin typeface="Georgia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0" y="3048000"/>
            <a:ext cx="5105400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14400"/>
          </a:xfrm>
        </p:spPr>
        <p:txBody>
          <a:bodyPr anchor="t">
            <a:normAutofit/>
          </a:bodyPr>
          <a:lstStyle>
            <a:lvl1pPr algn="l">
              <a:defRPr sz="2800">
                <a:latin typeface="Georg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SzPct val="130000"/>
              <a:buFont typeface="Arial" pitchFamily="34" charset="0"/>
              <a:buChar char="•"/>
              <a:defRPr sz="2000">
                <a:latin typeface="Georgia" pitchFamily="18" charset="0"/>
              </a:defRPr>
            </a:lvl1pPr>
            <a:lvl2pPr marL="571500" indent="-228600">
              <a:lnSpc>
                <a:spcPct val="150000"/>
              </a:lnSpc>
              <a:spcBef>
                <a:spcPts val="0"/>
              </a:spcBef>
              <a:buSzPct val="60000"/>
              <a:buFont typeface="Courier New" pitchFamily="49" charset="0"/>
              <a:buChar char="o"/>
              <a:defRPr sz="1800">
                <a:latin typeface="Georgia" pitchFamily="18" charset="0"/>
              </a:defRPr>
            </a:lvl2pPr>
            <a:lvl3pPr>
              <a:defRPr sz="2000">
                <a:latin typeface="Georgia" pitchFamily="18" charset="0"/>
              </a:defRPr>
            </a:lvl3pPr>
            <a:lvl4pPr>
              <a:defRPr sz="2000">
                <a:latin typeface="Georgia" pitchFamily="18" charset="0"/>
              </a:defRPr>
            </a:lvl4pPr>
            <a:lvl5pPr>
              <a:defRPr sz="2000">
                <a:latin typeface="Georgia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297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297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09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3008313" cy="762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52600"/>
            <a:ext cx="3008313" cy="43735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0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0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2158D-428B-4987-8B28-745A2AFA125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FC477-0A05-4F3E-8EE9-E015C9089D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4"/>
          <a:stretch/>
        </p:blipFill>
        <p:spPr>
          <a:xfrm>
            <a:off x="-13251" y="0"/>
            <a:ext cx="9157252" cy="6604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awt/awt_textarea.htm" TargetMode="External"/><Relationship Id="rId3" Type="http://schemas.openxmlformats.org/officeDocument/2006/relationships/hyperlink" Target="https://www.tutorialspoint.com/awt/awt_button.htm" TargetMode="External"/><Relationship Id="rId7" Type="http://schemas.openxmlformats.org/officeDocument/2006/relationships/hyperlink" Target="https://www.tutorialspoint.com/awt/awt_textfield.htm" TargetMode="External"/><Relationship Id="rId2" Type="http://schemas.openxmlformats.org/officeDocument/2006/relationships/hyperlink" Target="https://www.tutorialspoint.com/awt/awt_label.htm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utorialspoint.com/awt/awt_list.htm" TargetMode="External"/><Relationship Id="rId5" Type="http://schemas.openxmlformats.org/officeDocument/2006/relationships/hyperlink" Target="https://www.tutorialspoint.com/awt/awt_checkboxgroup.htm" TargetMode="External"/><Relationship Id="rId4" Type="http://schemas.openxmlformats.org/officeDocument/2006/relationships/hyperlink" Target="https://www.tutorialspoint.com/awt/awt_checkbox.htm" TargetMode="External"/><Relationship Id="rId9" Type="http://schemas.openxmlformats.org/officeDocument/2006/relationships/hyperlink" Target="https://www.tutorialspoint.com/awt/awt_choice.htm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Presentation on Java Programming (IT207G)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C00000"/>
                </a:solidFill>
              </a:rPr>
              <a:t>UNIT No. </a:t>
            </a:r>
            <a:r>
              <a:rPr lang="en-US" sz="3200" dirty="0" smtClean="0">
                <a:solidFill>
                  <a:srgbClr val="C00000"/>
                </a:solidFill>
              </a:rPr>
              <a:t>VI- </a:t>
            </a:r>
            <a:r>
              <a:rPr lang="en-US" sz="3200" dirty="0" smtClean="0">
                <a:solidFill>
                  <a:srgbClr val="C00000"/>
                </a:solidFill>
              </a:rPr>
              <a:t>2</a:t>
            </a:r>
            <a:endParaRPr lang="en-US" sz="3200" dirty="0">
              <a:solidFill>
                <a:srgbClr val="C00000"/>
              </a:solidFill>
            </a:endParaRPr>
          </a:p>
        </p:txBody>
      </p:sp>
      <p:pic>
        <p:nvPicPr>
          <p:cNvPr id="1026" name="Picture 2" descr="C:\Users\!TDEPT\Desktop\Java AIML\6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196753"/>
            <a:ext cx="4968552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207" y="468401"/>
            <a:ext cx="82296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Parameter in Applet</a:t>
            </a:r>
            <a:br>
              <a:rPr lang="en-IN" sz="3200" b="1" dirty="0">
                <a:solidFill>
                  <a:srgbClr val="0070C0"/>
                </a:solidFill>
              </a:rPr>
            </a:br>
            <a:r>
              <a:rPr lang="en-IN" sz="3200" b="1" u="sng" dirty="0">
                <a:solidFill>
                  <a:srgbClr val="0070C0"/>
                </a:solidFill>
              </a:rPr>
              <a:t/>
            </a:r>
            <a:br>
              <a:rPr lang="en-IN" sz="3200" b="1" u="sng" dirty="0">
                <a:solidFill>
                  <a:srgbClr val="0070C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/>
            </a:r>
            <a:br>
              <a:rPr lang="en-IN" b="1" dirty="0">
                <a:solidFill>
                  <a:srgbClr val="7030A0"/>
                </a:solidFill>
              </a:rPr>
            </a:br>
            <a:r>
              <a:rPr lang="en-IN" b="1" dirty="0">
                <a:solidFill>
                  <a:srgbClr val="7030A0"/>
                </a:solidFill>
              </a:rPr>
              <a:t/>
            </a:r>
            <a:br>
              <a:rPr lang="en-IN" b="1" dirty="0">
                <a:solidFill>
                  <a:srgbClr val="7030A0"/>
                </a:solidFill>
              </a:rPr>
            </a:b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9535" y="1143359"/>
            <a:ext cx="854294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000" dirty="0"/>
              <a:t>parameter passing refers to the process of passing data or parameters from the HTML code that embeds the applet into a web page </a:t>
            </a:r>
            <a:r>
              <a:rPr lang="en-US" sz="2000" dirty="0" smtClean="0"/>
              <a:t>..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000" dirty="0"/>
              <a:t>This mechanism allows you to customize and configure the behavior of the applet dynamically based on the values provided in the HTML code.</a:t>
            </a:r>
            <a:r>
              <a:rPr lang="en-US" sz="20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C00000"/>
                </a:solidFill>
              </a:rPr>
              <a:t>Step 1:</a:t>
            </a:r>
            <a:r>
              <a:rPr lang="en-US" sz="2000" b="1" dirty="0" smtClean="0"/>
              <a:t> Embedding </a:t>
            </a:r>
            <a:r>
              <a:rPr lang="en-US" sz="2000" b="1" dirty="0"/>
              <a:t>the Applet in HTML</a:t>
            </a:r>
            <a:r>
              <a:rPr lang="en-US" sz="2000" dirty="0"/>
              <a:t>: To embed a Java applet in an HTML page, you typically use the &lt;applet&gt; tag. Within this tag, you can specify various parameters using the &lt;</a:t>
            </a:r>
            <a:r>
              <a:rPr lang="en-US" sz="2000" dirty="0" err="1"/>
              <a:t>param</a:t>
            </a:r>
            <a:r>
              <a:rPr lang="en-US" sz="2000" dirty="0"/>
              <a:t>&gt; tags</a:t>
            </a:r>
            <a:r>
              <a:rPr lang="en-US" sz="2000" dirty="0" smtClean="0"/>
              <a:t>.</a:t>
            </a:r>
          </a:p>
          <a:p>
            <a:pPr algn="ctr"/>
            <a:r>
              <a:rPr lang="en-IN" sz="2000" b="1" dirty="0">
                <a:solidFill>
                  <a:srgbClr val="C00000"/>
                </a:solidFill>
              </a:rPr>
              <a:t>&lt;</a:t>
            </a:r>
            <a:r>
              <a:rPr lang="en-IN" sz="2000" b="1" dirty="0" err="1">
                <a:solidFill>
                  <a:srgbClr val="C00000"/>
                </a:solidFill>
              </a:rPr>
              <a:t>param</a:t>
            </a:r>
            <a:r>
              <a:rPr lang="en-IN" sz="2000" b="1" dirty="0">
                <a:solidFill>
                  <a:srgbClr val="C00000"/>
                </a:solidFill>
              </a:rPr>
              <a:t> name="param1" value="value1"&gt;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marL="342900" indent="-342900" algn="just">
              <a:buFont typeface="Wingdings" pitchFamily="2" charset="2"/>
              <a:buChar char="Ø"/>
            </a:pPr>
            <a:endParaRPr lang="en-US" sz="2000" dirty="0" smtClean="0"/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Step </a:t>
            </a:r>
            <a:r>
              <a:rPr lang="en-US" sz="2000" b="1" dirty="0" smtClean="0">
                <a:solidFill>
                  <a:srgbClr val="C00000"/>
                </a:solidFill>
              </a:rPr>
              <a:t>2: </a:t>
            </a:r>
            <a:r>
              <a:rPr lang="en-US" sz="2000" b="1" dirty="0" smtClean="0"/>
              <a:t>Accessing </a:t>
            </a:r>
            <a:r>
              <a:rPr lang="en-US" sz="2000" b="1" dirty="0"/>
              <a:t>Parameters in the Applet</a:t>
            </a:r>
            <a:r>
              <a:rPr lang="en-US" sz="2000" dirty="0"/>
              <a:t>: Inside the Java applet code, you can access the parameters passed from the HTML page using the </a:t>
            </a:r>
            <a:r>
              <a:rPr lang="en-US" sz="2000" dirty="0" err="1"/>
              <a:t>getParameter</a:t>
            </a:r>
            <a:r>
              <a:rPr lang="en-US" sz="2000" dirty="0"/>
              <a:t>() method of the Applet class.</a:t>
            </a:r>
            <a:r>
              <a:rPr lang="en-US" sz="2000" dirty="0" smtClean="0"/>
              <a:t>.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IN" sz="2000" b="1" dirty="0" smtClean="0">
                <a:solidFill>
                  <a:srgbClr val="0070C0"/>
                </a:solidFill>
              </a:rPr>
              <a:t>String </a:t>
            </a:r>
            <a:r>
              <a:rPr lang="en-IN" sz="2000" b="1" dirty="0" err="1" smtClean="0">
                <a:solidFill>
                  <a:srgbClr val="0070C0"/>
                </a:solidFill>
              </a:rPr>
              <a:t>str</a:t>
            </a:r>
            <a:r>
              <a:rPr lang="en-IN" sz="2000" b="1" dirty="0" smtClean="0">
                <a:solidFill>
                  <a:srgbClr val="C00000"/>
                </a:solidFill>
              </a:rPr>
              <a:t>=</a:t>
            </a:r>
            <a:r>
              <a:rPr lang="en-IN" sz="2000" b="1" dirty="0" err="1" smtClean="0">
                <a:solidFill>
                  <a:srgbClr val="C00000"/>
                </a:solidFill>
              </a:rPr>
              <a:t>getParameter</a:t>
            </a:r>
            <a:r>
              <a:rPr lang="en-IN" sz="2000" b="1" dirty="0">
                <a:solidFill>
                  <a:srgbClr val="C00000"/>
                </a:solidFill>
              </a:rPr>
              <a:t>("</a:t>
            </a:r>
            <a:r>
              <a:rPr lang="en-IN" sz="2000" b="1" dirty="0" err="1" smtClean="0">
                <a:solidFill>
                  <a:srgbClr val="C00000"/>
                </a:solidFill>
              </a:rPr>
              <a:t>param</a:t>
            </a:r>
            <a:r>
              <a:rPr lang="en-IN" sz="2000" b="1" dirty="0" smtClean="0">
                <a:solidFill>
                  <a:srgbClr val="C00000"/>
                </a:solidFill>
              </a:rPr>
              <a:t> name");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algn="just"/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251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IN" sz="2400" u="sng" dirty="0" smtClean="0">
                <a:solidFill>
                  <a:srgbClr val="0070C0"/>
                </a:solidFill>
              </a:rPr>
              <a:t>UseParam.java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IN" sz="2400" dirty="0"/>
              <a:t/>
            </a:r>
            <a:br>
              <a:rPr lang="en-IN" sz="2400" dirty="0"/>
            </a:br>
            <a:r>
              <a:rPr lang="en-IN" sz="2400" b="1" u="sng" dirty="0">
                <a:solidFill>
                  <a:srgbClr val="0070C0"/>
                </a:solidFill>
              </a:rPr>
              <a:t/>
            </a:r>
            <a:br>
              <a:rPr lang="en-IN" sz="2400" b="1" u="sng" dirty="0">
                <a:solidFill>
                  <a:srgbClr val="0070C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endParaRPr lang="en-IN" sz="2000" b="1" dirty="0">
              <a:solidFill>
                <a:srgbClr val="7030A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9592" y="908720"/>
            <a:ext cx="806489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import</a:t>
            </a:r>
            <a:r>
              <a:rPr lang="en-IN" sz="2000" dirty="0"/>
              <a:t> </a:t>
            </a:r>
            <a:r>
              <a:rPr lang="en-IN" sz="2000" dirty="0" err="1"/>
              <a:t>java.applet.Applet</a:t>
            </a:r>
            <a:r>
              <a:rPr lang="en-IN" sz="2000" dirty="0"/>
              <a:t>;  </a:t>
            </a:r>
          </a:p>
          <a:p>
            <a:r>
              <a:rPr lang="en-IN" sz="2000" b="1" dirty="0"/>
              <a:t>import</a:t>
            </a:r>
            <a:r>
              <a:rPr lang="en-IN" sz="2000" dirty="0"/>
              <a:t> </a:t>
            </a:r>
            <a:r>
              <a:rPr lang="en-IN" sz="2000" dirty="0" err="1" smtClean="0"/>
              <a:t>java.awt</a:t>
            </a:r>
            <a:r>
              <a:rPr lang="en-IN" sz="2000" dirty="0" smtClean="0"/>
              <a:t>.*;</a:t>
            </a:r>
            <a:r>
              <a:rPr lang="en-IN" sz="2000" dirty="0"/>
              <a:t>  </a:t>
            </a:r>
          </a:p>
          <a:p>
            <a:r>
              <a:rPr lang="en-IN" sz="2000" dirty="0"/>
              <a:t>  </a:t>
            </a:r>
          </a:p>
          <a:p>
            <a:r>
              <a:rPr lang="en-IN" sz="2000" b="1" dirty="0"/>
              <a:t>public</a:t>
            </a:r>
            <a:r>
              <a:rPr lang="en-IN" sz="2000" dirty="0"/>
              <a:t> </a:t>
            </a:r>
            <a:r>
              <a:rPr lang="en-IN" sz="2000" b="1" dirty="0"/>
              <a:t>class</a:t>
            </a:r>
            <a:r>
              <a:rPr lang="en-IN" sz="2000" dirty="0"/>
              <a:t> </a:t>
            </a:r>
            <a:r>
              <a:rPr lang="en-IN" sz="2000" dirty="0" err="1"/>
              <a:t>UseParam</a:t>
            </a:r>
            <a:r>
              <a:rPr lang="en-IN" sz="2000" dirty="0"/>
              <a:t> </a:t>
            </a:r>
            <a:r>
              <a:rPr lang="en-IN" sz="2000" b="1" dirty="0"/>
              <a:t>extends</a:t>
            </a:r>
            <a:r>
              <a:rPr lang="en-IN" sz="2000" dirty="0"/>
              <a:t> Applet{  </a:t>
            </a:r>
          </a:p>
          <a:p>
            <a:pPr algn="just"/>
            <a:r>
              <a:rPr lang="en-IN" sz="2000" dirty="0"/>
              <a:t> public void </a:t>
            </a:r>
            <a:r>
              <a:rPr lang="en-IN" sz="2000" dirty="0" err="1"/>
              <a:t>init</a:t>
            </a:r>
            <a:r>
              <a:rPr lang="en-IN" sz="2000" dirty="0"/>
              <a:t>() </a:t>
            </a:r>
            <a:endParaRPr lang="en-IN" sz="2000" dirty="0" smtClean="0"/>
          </a:p>
          <a:p>
            <a:pPr algn="just"/>
            <a:r>
              <a:rPr lang="en-IN" sz="2000" dirty="0" smtClean="0"/>
              <a:t>{</a:t>
            </a:r>
            <a:endParaRPr lang="en-IN" sz="2000" dirty="0"/>
          </a:p>
          <a:p>
            <a:pPr algn="just"/>
            <a:r>
              <a:rPr lang="en-IN" sz="2000" dirty="0"/>
              <a:t>	</a:t>
            </a:r>
            <a:r>
              <a:rPr lang="en-IN" sz="2000" dirty="0" err="1"/>
              <a:t>setBackground</a:t>
            </a:r>
            <a:r>
              <a:rPr lang="en-IN" sz="2000" dirty="0"/>
              <a:t>(</a:t>
            </a:r>
            <a:r>
              <a:rPr lang="en-IN" sz="2000" dirty="0" err="1"/>
              <a:t>Color.red</a:t>
            </a:r>
            <a:r>
              <a:rPr lang="en-IN" sz="2000" dirty="0"/>
              <a:t>);</a:t>
            </a:r>
          </a:p>
          <a:p>
            <a:pPr algn="just"/>
            <a:r>
              <a:rPr lang="en-IN" sz="2000" dirty="0"/>
              <a:t>	</a:t>
            </a:r>
            <a:r>
              <a:rPr lang="en-IN" sz="2000" dirty="0" err="1"/>
              <a:t>setForeground</a:t>
            </a:r>
            <a:r>
              <a:rPr lang="en-IN" sz="2000" dirty="0"/>
              <a:t>(</a:t>
            </a:r>
            <a:r>
              <a:rPr lang="en-IN" sz="2000" dirty="0" err="1"/>
              <a:t>Color.green</a:t>
            </a:r>
            <a:r>
              <a:rPr lang="en-IN" sz="2000" dirty="0"/>
              <a:t>);</a:t>
            </a:r>
          </a:p>
          <a:p>
            <a:pPr algn="just"/>
            <a:r>
              <a:rPr lang="en-IN" sz="2000" dirty="0"/>
              <a:t>  } </a:t>
            </a:r>
          </a:p>
          <a:p>
            <a:r>
              <a:rPr lang="en-IN" sz="2000" b="1" dirty="0"/>
              <a:t>public</a:t>
            </a:r>
            <a:r>
              <a:rPr lang="en-IN" sz="2000" dirty="0"/>
              <a:t> </a:t>
            </a:r>
            <a:r>
              <a:rPr lang="en-IN" sz="2000" b="1" dirty="0"/>
              <a:t>void</a:t>
            </a:r>
            <a:r>
              <a:rPr lang="en-IN" sz="2000" dirty="0"/>
              <a:t> paint(Graphics g</a:t>
            </a:r>
            <a:r>
              <a:rPr lang="en-IN" sz="2000" dirty="0" smtClean="0"/>
              <a:t>)</a:t>
            </a:r>
          </a:p>
          <a:p>
            <a:r>
              <a:rPr lang="en-IN" sz="2000" dirty="0" smtClean="0"/>
              <a:t>{</a:t>
            </a:r>
            <a:r>
              <a:rPr lang="en-IN" sz="2000" dirty="0"/>
              <a:t>  </a:t>
            </a:r>
          </a:p>
          <a:p>
            <a:r>
              <a:rPr lang="en-IN" sz="2000" dirty="0"/>
              <a:t>String </a:t>
            </a:r>
            <a:r>
              <a:rPr lang="en-IN" sz="2000" dirty="0" err="1"/>
              <a:t>str</a:t>
            </a:r>
            <a:r>
              <a:rPr lang="en-IN" sz="2000" dirty="0"/>
              <a:t>=</a:t>
            </a:r>
            <a:r>
              <a:rPr lang="en-IN" sz="2000" b="1" dirty="0" err="1">
                <a:solidFill>
                  <a:srgbClr val="C00000"/>
                </a:solidFill>
              </a:rPr>
              <a:t>getParameter</a:t>
            </a:r>
            <a:r>
              <a:rPr lang="en-IN" sz="2000" dirty="0"/>
              <a:t>("</a:t>
            </a:r>
            <a:r>
              <a:rPr lang="en-IN" sz="2400" b="1" dirty="0" err="1">
                <a:solidFill>
                  <a:srgbClr val="0070C0"/>
                </a:solidFill>
              </a:rPr>
              <a:t>msg</a:t>
            </a:r>
            <a:r>
              <a:rPr lang="en-IN" sz="2000" dirty="0"/>
              <a:t>");  </a:t>
            </a:r>
          </a:p>
          <a:p>
            <a:r>
              <a:rPr lang="en-IN" sz="2000" dirty="0" err="1"/>
              <a:t>g.drawString</a:t>
            </a:r>
            <a:r>
              <a:rPr lang="en-IN" sz="2000" dirty="0"/>
              <a:t>(str,50, 50);  </a:t>
            </a:r>
          </a:p>
          <a:p>
            <a:r>
              <a:rPr lang="en-IN" sz="2000" dirty="0"/>
              <a:t>}   </a:t>
            </a:r>
            <a:endParaRPr lang="en-IN" sz="2000" dirty="0" smtClean="0"/>
          </a:p>
          <a:p>
            <a:r>
              <a:rPr lang="en-IN" sz="2000" dirty="0" smtClean="0"/>
              <a:t>}</a:t>
            </a:r>
            <a:r>
              <a:rPr lang="en-IN" sz="2000" dirty="0"/>
              <a:t>  </a:t>
            </a:r>
            <a:endParaRPr lang="en-IN" sz="2000" dirty="0" smtClean="0"/>
          </a:p>
          <a:p>
            <a:r>
              <a:rPr lang="en-US" sz="2000" dirty="0" smtClean="0"/>
              <a:t>/*&lt;</a:t>
            </a:r>
            <a:r>
              <a:rPr lang="en-US" sz="2000" dirty="0"/>
              <a:t>applet code="</a:t>
            </a:r>
            <a:r>
              <a:rPr lang="en-US" sz="2000" dirty="0" err="1">
                <a:solidFill>
                  <a:srgbClr val="0070C0"/>
                </a:solidFill>
              </a:rPr>
              <a:t>UseParam.class</a:t>
            </a:r>
            <a:r>
              <a:rPr lang="en-US" sz="2000" dirty="0"/>
              <a:t>" width="300" height="300"&gt;  </a:t>
            </a:r>
          </a:p>
          <a:p>
            <a:r>
              <a:rPr lang="en-US" sz="2000" dirty="0">
                <a:solidFill>
                  <a:srgbClr val="C00000"/>
                </a:solidFill>
              </a:rPr>
              <a:t>&lt;</a:t>
            </a:r>
            <a:r>
              <a:rPr lang="en-US" sz="2000" dirty="0" err="1">
                <a:solidFill>
                  <a:srgbClr val="C00000"/>
                </a:solidFill>
              </a:rPr>
              <a:t>param</a:t>
            </a:r>
            <a:r>
              <a:rPr lang="en-US" sz="2000" dirty="0">
                <a:solidFill>
                  <a:srgbClr val="C00000"/>
                </a:solidFill>
              </a:rPr>
              <a:t>  name="</a:t>
            </a:r>
            <a:r>
              <a:rPr lang="en-US" sz="2000" dirty="0" err="1">
                <a:solidFill>
                  <a:srgbClr val="0070C0"/>
                </a:solidFill>
              </a:rPr>
              <a:t>msg</a:t>
            </a:r>
            <a:r>
              <a:rPr lang="en-US" sz="2000" dirty="0">
                <a:solidFill>
                  <a:srgbClr val="C00000"/>
                </a:solidFill>
              </a:rPr>
              <a:t>"   value="</a:t>
            </a:r>
            <a:r>
              <a:rPr lang="en-US" sz="2000" dirty="0">
                <a:solidFill>
                  <a:srgbClr val="0070C0"/>
                </a:solidFill>
              </a:rPr>
              <a:t>Welcome to applet</a:t>
            </a:r>
            <a:r>
              <a:rPr lang="en-US" sz="2000" dirty="0">
                <a:solidFill>
                  <a:srgbClr val="C00000"/>
                </a:solidFill>
              </a:rPr>
              <a:t>"&gt; </a:t>
            </a:r>
            <a:r>
              <a:rPr lang="en-US" sz="2000" dirty="0"/>
              <a:t> </a:t>
            </a:r>
          </a:p>
          <a:p>
            <a:r>
              <a:rPr lang="en-US" sz="2000" dirty="0" smtClean="0"/>
              <a:t>&lt;/</a:t>
            </a:r>
            <a:r>
              <a:rPr lang="en-US" sz="2000" dirty="0"/>
              <a:t>applet</a:t>
            </a:r>
            <a:r>
              <a:rPr lang="en-US" sz="2000" dirty="0" smtClean="0"/>
              <a:t>&gt; */</a:t>
            </a:r>
            <a:endParaRPr lang="en-IN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395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979712" y="5122952"/>
            <a:ext cx="381642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Command Prompt: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c:\&gt;</a:t>
            </a:r>
            <a:r>
              <a:rPr lang="en-US" dirty="0">
                <a:solidFill>
                  <a:srgbClr val="FF0000"/>
                </a:solidFill>
              </a:rPr>
              <a:t>javac </a:t>
            </a:r>
            <a:r>
              <a:rPr lang="en-US" dirty="0" smtClean="0">
                <a:solidFill>
                  <a:srgbClr val="FF0000"/>
                </a:solidFill>
              </a:rPr>
              <a:t>UseParam.java </a:t>
            </a: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c:\&gt;</a:t>
            </a:r>
            <a:r>
              <a:rPr lang="en-US" dirty="0">
                <a:solidFill>
                  <a:srgbClr val="FF0000"/>
                </a:solidFill>
              </a:rPr>
              <a:t>appletviewer </a:t>
            </a:r>
            <a:r>
              <a:rPr lang="en-US" dirty="0" smtClean="0">
                <a:solidFill>
                  <a:srgbClr val="FF0000"/>
                </a:solidFill>
              </a:rPr>
              <a:t>myapplet.java</a:t>
            </a:r>
            <a:endParaRPr lang="en-IN" dirty="0"/>
          </a:p>
        </p:txBody>
      </p:sp>
      <p:pic>
        <p:nvPicPr>
          <p:cNvPr id="1026" name="Picture 2" descr="C:\Users\!TDEPT\Desktop\Java AIML\ABC1\getparame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48680"/>
            <a:ext cx="4840975" cy="403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364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Practical: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program to pass two parameters in Applet, One contains your full name and another will be your branch name. Display both the parameters on applet screen.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96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548680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Displaying Graphics in Applet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endParaRPr lang="en-IN" sz="2000" b="1" dirty="0">
              <a:solidFill>
                <a:srgbClr val="7030A0"/>
              </a:solidFill>
            </a:endParaRP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" y="1340768"/>
            <a:ext cx="88924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000" b="1" dirty="0" err="1">
                <a:solidFill>
                  <a:srgbClr val="C00000"/>
                </a:solidFill>
              </a:rPr>
              <a:t>java.awt.Graphics</a:t>
            </a:r>
            <a:r>
              <a:rPr lang="en-US" sz="2000" dirty="0"/>
              <a:t> class provides many methods for graphics programming.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public abstract void </a:t>
            </a:r>
            <a:r>
              <a:rPr lang="en-US" sz="2000" b="1" dirty="0" err="1">
                <a:solidFill>
                  <a:srgbClr val="C00000"/>
                </a:solidFill>
              </a:rPr>
              <a:t>drawString</a:t>
            </a:r>
            <a:r>
              <a:rPr lang="en-US" sz="2000" b="1" dirty="0">
                <a:solidFill>
                  <a:srgbClr val="C00000"/>
                </a:solidFill>
              </a:rPr>
              <a:t>(String </a:t>
            </a:r>
            <a:r>
              <a:rPr lang="en-US" sz="2000" b="1" dirty="0" err="1">
                <a:solidFill>
                  <a:srgbClr val="C00000"/>
                </a:solidFill>
              </a:rPr>
              <a:t>str</a:t>
            </a:r>
            <a:r>
              <a:rPr lang="en-US" sz="2000" b="1" dirty="0">
                <a:solidFill>
                  <a:srgbClr val="C00000"/>
                </a:solidFill>
              </a:rPr>
              <a:t>, 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x, 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y):</a:t>
            </a:r>
            <a:r>
              <a:rPr lang="en-US" sz="2000" dirty="0"/>
              <a:t> is used to draw the specified string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solidFill>
                  <a:srgbClr val="0070C0"/>
                </a:solidFill>
              </a:rPr>
              <a:t>public void </a:t>
            </a:r>
            <a:r>
              <a:rPr lang="en-US" sz="2000" b="1" dirty="0" err="1">
                <a:solidFill>
                  <a:srgbClr val="0070C0"/>
                </a:solidFill>
              </a:rPr>
              <a:t>drawRect</a:t>
            </a:r>
            <a:r>
              <a:rPr lang="en-US" sz="2000" b="1" dirty="0">
                <a:solidFill>
                  <a:srgbClr val="0070C0"/>
                </a:solidFill>
              </a:rPr>
              <a:t>(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x,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y,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width,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height):</a:t>
            </a:r>
            <a:r>
              <a:rPr lang="en-US" sz="2000" dirty="0"/>
              <a:t> draws a rectangle with the specified width and height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public abstract void </a:t>
            </a:r>
            <a:r>
              <a:rPr lang="en-US" sz="2000" b="1" dirty="0" err="1">
                <a:solidFill>
                  <a:srgbClr val="C00000"/>
                </a:solidFill>
              </a:rPr>
              <a:t>fillRect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x, 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y, 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width, </a:t>
            </a:r>
            <a:r>
              <a:rPr lang="en-US" sz="2000" b="1" dirty="0" err="1">
                <a:solidFill>
                  <a:srgbClr val="C00000"/>
                </a:solidFill>
              </a:rPr>
              <a:t>int</a:t>
            </a:r>
            <a:r>
              <a:rPr lang="en-US" sz="2000" b="1" dirty="0">
                <a:solidFill>
                  <a:srgbClr val="C00000"/>
                </a:solidFill>
              </a:rPr>
              <a:t> height):</a:t>
            </a:r>
            <a:r>
              <a:rPr lang="en-US" sz="2000" dirty="0"/>
              <a:t> is used to fill rectangle with the default color and specified width and height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solidFill>
                  <a:srgbClr val="0070C0"/>
                </a:solidFill>
              </a:rPr>
              <a:t>public abstract void </a:t>
            </a:r>
            <a:r>
              <a:rPr lang="en-US" sz="2000" b="1" dirty="0" err="1">
                <a:solidFill>
                  <a:srgbClr val="0070C0"/>
                </a:solidFill>
              </a:rPr>
              <a:t>drawOval</a:t>
            </a:r>
            <a:r>
              <a:rPr lang="en-US" sz="2000" b="1" dirty="0">
                <a:solidFill>
                  <a:srgbClr val="0070C0"/>
                </a:solidFill>
              </a:rPr>
              <a:t>(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x,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y,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width, </a:t>
            </a:r>
            <a:r>
              <a:rPr lang="en-US" sz="2000" b="1" dirty="0" err="1">
                <a:solidFill>
                  <a:srgbClr val="0070C0"/>
                </a:solidFill>
              </a:rPr>
              <a:t>int</a:t>
            </a:r>
            <a:r>
              <a:rPr lang="en-US" sz="2000" b="1" dirty="0">
                <a:solidFill>
                  <a:srgbClr val="0070C0"/>
                </a:solidFill>
              </a:rPr>
              <a:t> height):</a:t>
            </a:r>
            <a:r>
              <a:rPr lang="en-US" sz="2000" dirty="0"/>
              <a:t> is used to draw oval with the specified width and height.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/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/>
          </a:p>
          <a:p>
            <a:pPr algn="just"/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589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507288" cy="604867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5. </a:t>
            </a:r>
            <a:r>
              <a:rPr lang="en-US" b="1" dirty="0" smtClean="0">
                <a:solidFill>
                  <a:srgbClr val="C00000"/>
                </a:solidFill>
              </a:rPr>
              <a:t>public </a:t>
            </a:r>
            <a:r>
              <a:rPr lang="en-US" b="1" dirty="0">
                <a:solidFill>
                  <a:srgbClr val="C00000"/>
                </a:solidFill>
              </a:rPr>
              <a:t>abstract void </a:t>
            </a:r>
            <a:r>
              <a:rPr lang="en-US" b="1" dirty="0" err="1">
                <a:solidFill>
                  <a:srgbClr val="C00000"/>
                </a:solidFill>
              </a:rPr>
              <a:t>fillOval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x,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y,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width,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height)</a:t>
            </a:r>
            <a:r>
              <a:rPr lang="en-US" b="1" dirty="0"/>
              <a:t>:</a:t>
            </a:r>
            <a:r>
              <a:rPr lang="en-US" dirty="0"/>
              <a:t> is used to fill oval with the default color and specified width and height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6. </a:t>
            </a:r>
            <a:r>
              <a:rPr lang="en-US" b="1" dirty="0" smtClean="0">
                <a:solidFill>
                  <a:srgbClr val="0070C0"/>
                </a:solidFill>
              </a:rPr>
              <a:t>public </a:t>
            </a:r>
            <a:r>
              <a:rPr lang="en-US" b="1" dirty="0">
                <a:solidFill>
                  <a:srgbClr val="0070C0"/>
                </a:solidFill>
              </a:rPr>
              <a:t>abstract void </a:t>
            </a:r>
            <a:r>
              <a:rPr lang="en-US" b="1" dirty="0" err="1">
                <a:solidFill>
                  <a:srgbClr val="0070C0"/>
                </a:solidFill>
              </a:rPr>
              <a:t>drawLine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x1,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y1,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x2,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y2)</a:t>
            </a:r>
            <a:r>
              <a:rPr lang="en-US" b="1" dirty="0"/>
              <a:t>:</a:t>
            </a:r>
            <a:r>
              <a:rPr lang="en-US" dirty="0"/>
              <a:t> is used to draw line between the points(x1, y1) and (x2, y2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7. </a:t>
            </a:r>
            <a:r>
              <a:rPr lang="en-US" b="1" dirty="0" smtClean="0">
                <a:solidFill>
                  <a:srgbClr val="C00000"/>
                </a:solidFill>
              </a:rPr>
              <a:t>public </a:t>
            </a:r>
            <a:r>
              <a:rPr lang="en-US" b="1" dirty="0">
                <a:solidFill>
                  <a:srgbClr val="C00000"/>
                </a:solidFill>
              </a:rPr>
              <a:t>abstract void </a:t>
            </a:r>
            <a:r>
              <a:rPr lang="en-US" b="1" dirty="0" err="1">
                <a:solidFill>
                  <a:srgbClr val="C00000"/>
                </a:solidFill>
              </a:rPr>
              <a:t>drawArc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x,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y,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width,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height,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startAngle</a:t>
            </a:r>
            <a:r>
              <a:rPr lang="en-US" b="1" dirty="0">
                <a:solidFill>
                  <a:srgbClr val="C00000"/>
                </a:solidFill>
              </a:rPr>
              <a:t>, </a:t>
            </a:r>
            <a:r>
              <a:rPr lang="en-US" b="1" dirty="0" err="1">
                <a:solidFill>
                  <a:srgbClr val="C00000"/>
                </a:solidFill>
              </a:rPr>
              <a:t>int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arcAngle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:</a:t>
            </a:r>
            <a:r>
              <a:rPr lang="en-US" dirty="0"/>
              <a:t> is used draw a circular or elliptical </a:t>
            </a:r>
            <a:r>
              <a:rPr lang="en-US" dirty="0" smtClean="0"/>
              <a:t>arc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8. </a:t>
            </a:r>
            <a:r>
              <a:rPr lang="en-US" b="1" dirty="0" smtClean="0">
                <a:solidFill>
                  <a:srgbClr val="0070C0"/>
                </a:solidFill>
              </a:rPr>
              <a:t>public </a:t>
            </a:r>
            <a:r>
              <a:rPr lang="en-US" b="1" dirty="0">
                <a:solidFill>
                  <a:srgbClr val="0070C0"/>
                </a:solidFill>
              </a:rPr>
              <a:t>abstract void </a:t>
            </a:r>
            <a:r>
              <a:rPr lang="en-US" b="1" dirty="0" err="1">
                <a:solidFill>
                  <a:srgbClr val="0070C0"/>
                </a:solidFill>
              </a:rPr>
              <a:t>fillArc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x,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y,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width,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height,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startAngle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int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arcAngle</a:t>
            </a:r>
            <a:r>
              <a:rPr lang="en-US" b="1" dirty="0">
                <a:solidFill>
                  <a:srgbClr val="0070C0"/>
                </a:solidFill>
              </a:rPr>
              <a:t>):</a:t>
            </a:r>
            <a:r>
              <a:rPr lang="en-US" dirty="0"/>
              <a:t> is used to fill a circular or elliptical arc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9. </a:t>
            </a:r>
            <a:r>
              <a:rPr lang="en-US" b="1" dirty="0" smtClean="0">
                <a:solidFill>
                  <a:srgbClr val="C00000"/>
                </a:solidFill>
              </a:rPr>
              <a:t>public </a:t>
            </a:r>
            <a:r>
              <a:rPr lang="en-US" b="1" dirty="0">
                <a:solidFill>
                  <a:srgbClr val="C00000"/>
                </a:solidFill>
              </a:rPr>
              <a:t>abstract void </a:t>
            </a:r>
            <a:r>
              <a:rPr lang="en-US" b="1" dirty="0" err="1">
                <a:solidFill>
                  <a:srgbClr val="C00000"/>
                </a:solidFill>
              </a:rPr>
              <a:t>setColor</a:t>
            </a:r>
            <a:r>
              <a:rPr lang="en-US" b="1" dirty="0">
                <a:solidFill>
                  <a:srgbClr val="C00000"/>
                </a:solidFill>
              </a:rPr>
              <a:t>(Color c)</a:t>
            </a:r>
            <a:r>
              <a:rPr lang="en-US" b="1" dirty="0"/>
              <a:t>:</a:t>
            </a:r>
            <a:r>
              <a:rPr lang="en-US" dirty="0"/>
              <a:t> is used to set the graphics current color to the specified color.</a:t>
            </a:r>
          </a:p>
          <a:p>
            <a:pPr marL="0" indent="0">
              <a:buNone/>
            </a:pPr>
            <a:r>
              <a:rPr lang="en-US" b="1" dirty="0" smtClean="0"/>
              <a:t>10. </a:t>
            </a:r>
            <a:r>
              <a:rPr lang="en-US" b="1" dirty="0" smtClean="0">
                <a:solidFill>
                  <a:srgbClr val="0070C0"/>
                </a:solidFill>
              </a:rPr>
              <a:t>public </a:t>
            </a:r>
            <a:r>
              <a:rPr lang="en-US" b="1" dirty="0">
                <a:solidFill>
                  <a:srgbClr val="0070C0"/>
                </a:solidFill>
              </a:rPr>
              <a:t>abstract void </a:t>
            </a:r>
            <a:r>
              <a:rPr lang="en-US" b="1" dirty="0" err="1">
                <a:solidFill>
                  <a:srgbClr val="0070C0"/>
                </a:solidFill>
              </a:rPr>
              <a:t>setFont</a:t>
            </a:r>
            <a:r>
              <a:rPr lang="en-US" b="1" dirty="0">
                <a:solidFill>
                  <a:srgbClr val="0070C0"/>
                </a:solidFill>
              </a:rPr>
              <a:t>(Font font):</a:t>
            </a:r>
            <a:r>
              <a:rPr lang="en-US" dirty="0"/>
              <a:t> is used to set the graphics current font to the specified font.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59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476672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IN" sz="2400" b="1" u="sng" dirty="0" smtClean="0">
                <a:solidFill>
                  <a:srgbClr val="C00000"/>
                </a:solidFill>
              </a:rPr>
              <a:t> </a:t>
            </a:r>
            <a:r>
              <a:rPr lang="en-US" sz="2400" b="1" u="sng" dirty="0">
                <a:solidFill>
                  <a:srgbClr val="C00000"/>
                </a:solidFill>
              </a:rPr>
              <a:t>How to </a:t>
            </a:r>
            <a:r>
              <a:rPr lang="en-US" sz="2400" b="1" u="sng" dirty="0" err="1" smtClean="0">
                <a:solidFill>
                  <a:srgbClr val="C00000"/>
                </a:solidFill>
              </a:rPr>
              <a:t>drawArc</a:t>
            </a:r>
            <a:r>
              <a:rPr lang="en-US" sz="2400" b="1" u="sng" dirty="0" smtClean="0">
                <a:solidFill>
                  <a:srgbClr val="C00000"/>
                </a:solidFill>
              </a:rPr>
              <a:t>() and </a:t>
            </a:r>
            <a:r>
              <a:rPr lang="en-US" sz="2400" b="1" u="sng" dirty="0" err="1" smtClean="0">
                <a:solidFill>
                  <a:srgbClr val="C00000"/>
                </a:solidFill>
              </a:rPr>
              <a:t>fillArc</a:t>
            </a:r>
            <a:r>
              <a:rPr lang="en-US" sz="2400" b="1" u="sng" dirty="0" smtClean="0">
                <a:solidFill>
                  <a:srgbClr val="C00000"/>
                </a:solidFill>
              </a:rPr>
              <a:t>() work?</a:t>
            </a:r>
            <a:r>
              <a:rPr lang="en-US" sz="2400" b="1" u="sng" dirty="0">
                <a:solidFill>
                  <a:srgbClr val="C00000"/>
                </a:solidFill>
              </a:rPr>
              <a:t/>
            </a:r>
            <a:br>
              <a:rPr lang="en-US" sz="2400" b="1" u="sng" dirty="0">
                <a:solidFill>
                  <a:srgbClr val="C00000"/>
                </a:solidFill>
              </a:rPr>
            </a:br>
            <a:r>
              <a:rPr lang="en-IN" sz="2400" b="1" u="sng" dirty="0">
                <a:solidFill>
                  <a:srgbClr val="0070C0"/>
                </a:solidFill>
              </a:rPr>
              <a:t/>
            </a:r>
            <a:br>
              <a:rPr lang="en-IN" sz="2400" b="1" u="sng" dirty="0">
                <a:solidFill>
                  <a:srgbClr val="0070C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endParaRPr lang="en-IN" sz="2000" b="1" dirty="0">
              <a:solidFill>
                <a:srgbClr val="7030A0"/>
              </a:solidFill>
            </a:endParaRP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1" name="Picture 3" descr="C:\Users\!TDEPT\Desktop\Java AIML\ABC1\arc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7348249" cy="449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231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476672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IN" sz="2400" b="1" u="sng" dirty="0" smtClean="0">
                <a:solidFill>
                  <a:srgbClr val="C00000"/>
                </a:solidFill>
              </a:rPr>
              <a:t> </a:t>
            </a:r>
            <a:r>
              <a:rPr lang="en-US" sz="2400" b="1" u="sng" dirty="0">
                <a:solidFill>
                  <a:srgbClr val="C00000"/>
                </a:solidFill>
              </a:rPr>
              <a:t>How to </a:t>
            </a:r>
            <a:r>
              <a:rPr lang="en-US" sz="2400" b="1" u="sng" dirty="0" err="1" smtClean="0">
                <a:solidFill>
                  <a:srgbClr val="C00000"/>
                </a:solidFill>
              </a:rPr>
              <a:t>drawArc</a:t>
            </a:r>
            <a:r>
              <a:rPr lang="en-US" sz="2400" b="1" u="sng" dirty="0" smtClean="0">
                <a:solidFill>
                  <a:srgbClr val="C00000"/>
                </a:solidFill>
              </a:rPr>
              <a:t>() and </a:t>
            </a:r>
            <a:r>
              <a:rPr lang="en-US" sz="2400" b="1" u="sng" dirty="0" err="1" smtClean="0">
                <a:solidFill>
                  <a:srgbClr val="C00000"/>
                </a:solidFill>
              </a:rPr>
              <a:t>fillArc</a:t>
            </a:r>
            <a:r>
              <a:rPr lang="en-US" sz="2400" b="1" u="sng" dirty="0" smtClean="0">
                <a:solidFill>
                  <a:srgbClr val="C00000"/>
                </a:solidFill>
              </a:rPr>
              <a:t>() work?</a:t>
            </a:r>
            <a:r>
              <a:rPr lang="en-US" sz="2400" b="1" u="sng" dirty="0">
                <a:solidFill>
                  <a:srgbClr val="C00000"/>
                </a:solidFill>
              </a:rPr>
              <a:t/>
            </a:r>
            <a:br>
              <a:rPr lang="en-US" sz="2400" b="1" u="sng" dirty="0">
                <a:solidFill>
                  <a:srgbClr val="C00000"/>
                </a:solidFill>
              </a:rPr>
            </a:br>
            <a:r>
              <a:rPr lang="en-IN" sz="2400" b="1" u="sng" dirty="0">
                <a:solidFill>
                  <a:srgbClr val="0070C0"/>
                </a:solidFill>
              </a:rPr>
              <a:t/>
            </a:r>
            <a:br>
              <a:rPr lang="en-IN" sz="2400" b="1" u="sng" dirty="0">
                <a:solidFill>
                  <a:srgbClr val="0070C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r>
              <a:rPr lang="en-IN" sz="2000" b="1" dirty="0">
                <a:solidFill>
                  <a:srgbClr val="7030A0"/>
                </a:solidFill>
              </a:rPr>
              <a:t/>
            </a:r>
            <a:br>
              <a:rPr lang="en-IN" sz="2000" b="1" dirty="0">
                <a:solidFill>
                  <a:srgbClr val="7030A0"/>
                </a:solidFill>
              </a:rPr>
            </a:br>
            <a:endParaRPr lang="en-IN" sz="2000" b="1" dirty="0">
              <a:solidFill>
                <a:srgbClr val="7030A0"/>
              </a:solidFill>
            </a:endParaRP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C:\Users\!TDEPT\Desktop\Java AIML\ABC1\arc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6624736" cy="41529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!TDEPT\Desktop\Java AIML\ABC1\arc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12776"/>
            <a:ext cx="4824536" cy="6953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44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9" name="Picture 3" descr="C:\Users\!TDEPT\Desktop\Java AIML\ABC1\arc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15" y="1700806"/>
            <a:ext cx="5476875" cy="46958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!TDEPT\Desktop\Java AIML\ABC1\arc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708919"/>
            <a:ext cx="2949699" cy="267960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43608" y="98072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 Program for </a:t>
            </a:r>
            <a:r>
              <a:rPr lang="en-US" b="1" u="sng" dirty="0" err="1" smtClean="0">
                <a:solidFill>
                  <a:srgbClr val="0070C0"/>
                </a:solidFill>
              </a:rPr>
              <a:t>drawArc</a:t>
            </a:r>
            <a:r>
              <a:rPr lang="en-US" b="1" u="sng" dirty="0" smtClean="0">
                <a:solidFill>
                  <a:srgbClr val="0070C0"/>
                </a:solidFill>
              </a:rPr>
              <a:t>() and </a:t>
            </a:r>
            <a:r>
              <a:rPr lang="en-US" b="1" u="sng" dirty="0" err="1" smtClean="0">
                <a:solidFill>
                  <a:srgbClr val="0070C0"/>
                </a:solidFill>
              </a:rPr>
              <a:t>fillArc</a:t>
            </a:r>
            <a:r>
              <a:rPr lang="en-US" b="1" u="sng" dirty="0" smtClean="0">
                <a:solidFill>
                  <a:srgbClr val="0070C0"/>
                </a:solidFill>
              </a:rPr>
              <a:t>() method</a:t>
            </a:r>
            <a:endParaRPr lang="en-IN" b="1" u="sng" dirty="0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56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8229600" cy="914400"/>
          </a:xfrm>
        </p:spPr>
        <p:txBody>
          <a:bodyPr/>
          <a:lstStyle/>
          <a:p>
            <a:pPr algn="ctr"/>
            <a:r>
              <a:rPr lang="en-US" b="1" dirty="0" smtClean="0"/>
              <a:t>Practical: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program to create applet having following graphics in it.</a:t>
            </a:r>
            <a:endParaRPr lang="en-IN" dirty="0"/>
          </a:p>
        </p:txBody>
      </p:sp>
      <p:pic>
        <p:nvPicPr>
          <p:cNvPr id="1026" name="Picture 2" descr="C:\Users\!TDEPT\Desktop\Java AIML\ABC1\jokar output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20888"/>
            <a:ext cx="7128792" cy="370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83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8229600" cy="914400"/>
          </a:xfrm>
        </p:spPr>
        <p:txBody>
          <a:bodyPr/>
          <a:lstStyle/>
          <a:p>
            <a:pPr algn="ctr"/>
            <a:r>
              <a:rPr lang="en-US" b="1" dirty="0" smtClean="0"/>
              <a:t>Practical: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35" y="1340768"/>
            <a:ext cx="8229600" cy="4297363"/>
          </a:xfrm>
        </p:spPr>
        <p:txBody>
          <a:bodyPr/>
          <a:lstStyle/>
          <a:p>
            <a:r>
              <a:rPr lang="en-US" dirty="0" smtClean="0"/>
              <a:t>Write program to create applet having following graphics in it.</a:t>
            </a:r>
            <a:endParaRPr lang="en-IN" dirty="0"/>
          </a:p>
        </p:txBody>
      </p:sp>
      <p:pic>
        <p:nvPicPr>
          <p:cNvPr id="2050" name="Picture 2" descr="C:\Users\!TDEPT\Desktop\Java AIML\ABC1\House Outp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485" y="2420888"/>
            <a:ext cx="4991100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29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01" y="667544"/>
            <a:ext cx="8229600" cy="914400"/>
          </a:xfrm>
        </p:spPr>
        <p:txBody>
          <a:bodyPr>
            <a:noAutofit/>
          </a:bodyPr>
          <a:lstStyle/>
          <a:p>
            <a:pPr algn="ctr" fontAlgn="base"/>
            <a:r>
              <a:rPr lang="en-IN" sz="2400" b="1" u="sng" dirty="0" smtClean="0">
                <a:solidFill>
                  <a:srgbClr val="0070C0"/>
                </a:solidFill>
              </a:rPr>
              <a:t>AWT Event </a:t>
            </a:r>
            <a:r>
              <a:rPr lang="en-IN" sz="2400" b="1" u="sng" dirty="0">
                <a:solidFill>
                  <a:srgbClr val="0070C0"/>
                </a:solidFill>
              </a:rPr>
              <a:t>Handling</a:t>
            </a: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3821" y="1340768"/>
            <a:ext cx="8892478" cy="1421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It is a mechanism to </a:t>
            </a:r>
            <a:r>
              <a:rPr lang="en-US" sz="2000" b="1" dirty="0"/>
              <a:t>control the events </a:t>
            </a:r>
            <a:r>
              <a:rPr lang="en-US" sz="2000" dirty="0"/>
              <a:t>and to </a:t>
            </a:r>
            <a:r>
              <a:rPr lang="en-US" sz="2000" b="1" dirty="0"/>
              <a:t>decide what should happen after an event</a:t>
            </a:r>
            <a:r>
              <a:rPr lang="en-US" sz="2000" dirty="0"/>
              <a:t> occur. To handle the events, Java follows the </a:t>
            </a:r>
            <a:r>
              <a:rPr lang="en-US" sz="2000" b="1" i="1" dirty="0"/>
              <a:t>Delegation Event model</a:t>
            </a:r>
            <a:r>
              <a:rPr lang="en-US" sz="2000" b="1" i="1" dirty="0" smtClean="0"/>
              <a:t>. </a:t>
            </a:r>
            <a:endParaRPr lang="en-US" sz="2000" dirty="0"/>
          </a:p>
        </p:txBody>
      </p:sp>
      <p:pic>
        <p:nvPicPr>
          <p:cNvPr id="4098" name="Picture 2" descr="Lightbo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385" y="3068960"/>
            <a:ext cx="622935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16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01" y="667544"/>
            <a:ext cx="8229600" cy="914400"/>
          </a:xfrm>
        </p:spPr>
        <p:txBody>
          <a:bodyPr>
            <a:noAutofit/>
          </a:bodyPr>
          <a:lstStyle/>
          <a:p>
            <a:pPr algn="ctr" fontAlgn="base"/>
            <a:r>
              <a:rPr lang="en-IN" sz="2400" b="1" dirty="0"/>
              <a:t>Delegation Event model</a:t>
            </a: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3821" y="1340768"/>
            <a:ext cx="889247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b="1" dirty="0"/>
              <a:t>Source: </a:t>
            </a:r>
            <a:r>
              <a:rPr lang="en-US" sz="2000" dirty="0"/>
              <a:t>Events are generated from the source. There are various sources like buttons, checkboxes, list, menu-item, choice, scrollbar, text components, windows, etc., to generate events</a:t>
            </a:r>
            <a:r>
              <a:rPr lang="en-US" sz="2000" dirty="0" smtClean="0"/>
              <a:t>.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b="1" dirty="0"/>
              <a:t>Listeners: </a:t>
            </a:r>
            <a:r>
              <a:rPr lang="en-US" sz="2000" dirty="0"/>
              <a:t>Listeners are used for handling the events generated from the source. Each of these listeners represents interfaces that are responsible for handling events.</a:t>
            </a:r>
          </a:p>
        </p:txBody>
      </p:sp>
      <p:sp>
        <p:nvSpPr>
          <p:cNvPr id="4" name="AutoShape 2" descr="Event Handl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Event Handl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6" name="Picture 6" descr="Delegation Event Model in Java - Javatpoi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6" y="3511901"/>
            <a:ext cx="7864424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507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01" y="667544"/>
            <a:ext cx="8229600" cy="914400"/>
          </a:xfrm>
        </p:spPr>
        <p:txBody>
          <a:bodyPr>
            <a:noAutofit/>
          </a:bodyPr>
          <a:lstStyle/>
          <a:p>
            <a:pPr algn="ctr"/>
            <a:r>
              <a:rPr lang="en-US" sz="2400" b="1" u="sng" dirty="0" smtClean="0">
                <a:solidFill>
                  <a:srgbClr val="C00000"/>
                </a:solidFill>
              </a:rPr>
              <a:t>Steps to perform Event handling</a:t>
            </a:r>
            <a:endParaRPr lang="en-IN" sz="2000" b="1" dirty="0">
              <a:solidFill>
                <a:srgbClr val="7030A0"/>
              </a:solidFill>
            </a:endParaRP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3821" y="1340768"/>
            <a:ext cx="8892478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Step 1:</a:t>
            </a:r>
            <a:r>
              <a:rPr lang="en-US" sz="2000" dirty="0" smtClean="0"/>
              <a:t> Create a new class which extends Applet class and implements appropriate Listener Interface.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Step 2: </a:t>
            </a:r>
            <a:r>
              <a:rPr lang="en-US" sz="2000" dirty="0"/>
              <a:t>To perform Event Handling, we need to register the source with the listener.</a:t>
            </a:r>
          </a:p>
          <a:p>
            <a:pPr fontAlgn="base"/>
            <a:r>
              <a:rPr lang="en-IN" sz="2000" b="1" dirty="0"/>
              <a:t>Syntax</a:t>
            </a:r>
            <a:r>
              <a:rPr lang="en-IN" sz="2000" b="1" dirty="0" smtClean="0"/>
              <a:t>:</a:t>
            </a:r>
            <a:r>
              <a:rPr lang="en-IN" sz="2000" dirty="0" smtClean="0"/>
              <a:t>   </a:t>
            </a:r>
            <a:r>
              <a:rPr lang="en-IN" sz="2000" dirty="0" err="1" smtClean="0"/>
              <a:t>addTypeListener</a:t>
            </a:r>
            <a:r>
              <a:rPr lang="en-IN" sz="2000" dirty="0" smtClean="0"/>
              <a:t>()</a:t>
            </a:r>
          </a:p>
          <a:p>
            <a:r>
              <a:rPr lang="en-US" sz="2000" b="1" dirty="0" smtClean="0"/>
              <a:t>Example </a:t>
            </a:r>
            <a:r>
              <a:rPr lang="en-US" sz="2000" b="1" dirty="0"/>
              <a:t>1: </a:t>
            </a:r>
            <a:r>
              <a:rPr lang="en-US" sz="2000" dirty="0"/>
              <a:t>For </a:t>
            </a:r>
            <a:r>
              <a:rPr lang="en-US" sz="2000" b="1" dirty="0" err="1"/>
              <a:t>KeyEvent</a:t>
            </a:r>
            <a:r>
              <a:rPr lang="en-US" sz="2000" dirty="0"/>
              <a:t> we use </a:t>
            </a:r>
            <a:r>
              <a:rPr lang="en-US" sz="2000" i="1" dirty="0" err="1">
                <a:solidFill>
                  <a:srgbClr val="C00000"/>
                </a:solidFill>
              </a:rPr>
              <a:t>addKeyListener</a:t>
            </a:r>
            <a:r>
              <a:rPr lang="en-US" sz="2000" i="1" dirty="0">
                <a:solidFill>
                  <a:srgbClr val="C00000"/>
                </a:solidFill>
              </a:rPr>
              <a:t>()</a:t>
            </a:r>
            <a:r>
              <a:rPr lang="en-US" sz="2000" dirty="0">
                <a:solidFill>
                  <a:srgbClr val="C00000"/>
                </a:solidFill>
              </a:rPr>
              <a:t> </a:t>
            </a:r>
            <a:r>
              <a:rPr lang="en-US" sz="2000" dirty="0"/>
              <a:t>to register</a:t>
            </a:r>
            <a:r>
              <a:rPr lang="en-US" sz="2400" dirty="0"/>
              <a:t>.</a:t>
            </a:r>
            <a:endParaRPr lang="en-US" sz="2400" b="1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rgbClr val="0070C0"/>
                </a:solidFill>
              </a:rPr>
              <a:t>Step 3: </a:t>
            </a:r>
            <a:r>
              <a:rPr lang="en-US" sz="2000" b="1" dirty="0" smtClean="0">
                <a:solidFill>
                  <a:srgbClr val="C00000"/>
                </a:solidFill>
              </a:rPr>
              <a:t>Finally implement abstract method of Listener Interface which contains the logic of event handling</a:t>
            </a:r>
          </a:p>
          <a:p>
            <a:pPr fontAlgn="base"/>
            <a:r>
              <a:rPr lang="en-US" sz="2000" b="1" dirty="0"/>
              <a:t>Example 1: </a:t>
            </a:r>
            <a:r>
              <a:rPr lang="en-US" sz="2000" dirty="0" smtClean="0"/>
              <a:t>For </a:t>
            </a:r>
            <a:r>
              <a:rPr lang="en-IN" sz="2000" dirty="0" err="1" smtClean="0"/>
              <a:t>KeyListener</a:t>
            </a:r>
            <a:r>
              <a:rPr lang="en-IN" sz="2000" dirty="0" smtClean="0"/>
              <a:t> </a:t>
            </a:r>
          </a:p>
          <a:p>
            <a:pPr marL="4000500" lvl="8" indent="-342900" fontAlgn="base">
              <a:buFont typeface="Arial" pitchFamily="34" charset="0"/>
              <a:buChar char="•"/>
            </a:pPr>
            <a:r>
              <a:rPr lang="en-IN" sz="2000" dirty="0" err="1" smtClean="0"/>
              <a:t>keyTyped</a:t>
            </a:r>
            <a:r>
              <a:rPr lang="en-IN" sz="2000" dirty="0"/>
              <a:t>()</a:t>
            </a:r>
          </a:p>
          <a:p>
            <a:pPr marL="4000500" lvl="8" indent="-342900" fontAlgn="base">
              <a:buFont typeface="Arial" pitchFamily="34" charset="0"/>
              <a:buChar char="•"/>
            </a:pPr>
            <a:r>
              <a:rPr lang="en-IN" sz="2000" dirty="0" err="1"/>
              <a:t>keyPressed</a:t>
            </a:r>
            <a:r>
              <a:rPr lang="en-IN" sz="2000" dirty="0"/>
              <a:t>()</a:t>
            </a:r>
          </a:p>
          <a:p>
            <a:pPr marL="4000500" lvl="8" indent="-342900" fontAlgn="base">
              <a:buFont typeface="Arial" pitchFamily="34" charset="0"/>
              <a:buChar char="•"/>
            </a:pPr>
            <a:r>
              <a:rPr lang="en-IN" sz="2000" dirty="0" err="1"/>
              <a:t>keyReleased</a:t>
            </a:r>
            <a:r>
              <a:rPr lang="en-IN" sz="2000" dirty="0"/>
              <a:t>()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27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99792" y="646946"/>
            <a:ext cx="338437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IN" sz="2000" b="1" dirty="0"/>
              <a:t>Event Classes in Java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06633"/>
              </p:ext>
            </p:extLst>
          </p:nvPr>
        </p:nvGraphicFramePr>
        <p:xfrm>
          <a:off x="277180" y="1340768"/>
          <a:ext cx="8229600" cy="50292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</a:rPr>
                        <a:t>Event Class</a:t>
                      </a:r>
                    </a:p>
                  </a:txBody>
                  <a:tcPr marL="38100" marR="3810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</a:rPr>
                        <a:t>Listener Interface</a:t>
                      </a:r>
                    </a:p>
                  </a:txBody>
                  <a:tcPr marL="95250" marR="9525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</a:rPr>
                        <a:t>Description</a:t>
                      </a:r>
                    </a:p>
                  </a:txBody>
                  <a:tcPr marL="95250" marR="9525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ActionEvent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ActionListener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800" dirty="0" smtClean="0">
                          <a:effectLst/>
                        </a:rPr>
                        <a:t>When </a:t>
                      </a:r>
                      <a:r>
                        <a:rPr lang="en-US" sz="1800" dirty="0">
                          <a:effectLst/>
                        </a:rPr>
                        <a:t>button click or selecting an item from the menu-item list.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ItemEvent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ItemListener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800" dirty="0" smtClean="0">
                          <a:effectLst/>
                        </a:rPr>
                        <a:t>When </a:t>
                      </a:r>
                      <a:r>
                        <a:rPr lang="en-US" sz="1800" dirty="0">
                          <a:effectLst/>
                        </a:rPr>
                        <a:t>an item was selected or </a:t>
                      </a:r>
                      <a:r>
                        <a:rPr lang="en-US" sz="1800" dirty="0" smtClean="0">
                          <a:effectLst/>
                        </a:rPr>
                        <a:t>not</a:t>
                      </a:r>
                      <a:r>
                        <a:rPr lang="en-US" sz="1800" baseline="0" dirty="0" smtClean="0">
                          <a:effectLst/>
                        </a:rPr>
                        <a:t> from list.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KeyEvent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KeyListener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800" dirty="0" smtClean="0">
                          <a:effectLst/>
                        </a:rPr>
                        <a:t>When </a:t>
                      </a:r>
                      <a:r>
                        <a:rPr lang="en-US" sz="1800" dirty="0" err="1" smtClean="0">
                          <a:effectLst/>
                        </a:rPr>
                        <a:t>keypresses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on the keyboard.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MouseEvent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MouseListener &amp; MouseMotionListener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800" dirty="0" smtClean="0">
                          <a:effectLst/>
                        </a:rPr>
                        <a:t>When the user </a:t>
                      </a:r>
                      <a:r>
                        <a:rPr lang="en-US" sz="1800" dirty="0">
                          <a:effectLst/>
                        </a:rPr>
                        <a:t>interaction with the mouse (Pointing Device).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MouseWheelEvent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MouseWheelListener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800" dirty="0" smtClean="0">
                          <a:effectLst/>
                        </a:rPr>
                        <a:t>When mouse </a:t>
                      </a:r>
                      <a:r>
                        <a:rPr lang="en-US" sz="1800" dirty="0">
                          <a:effectLst/>
                        </a:rPr>
                        <a:t>wheel was rotated in a component. 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03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57038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Different interfaces consists of different </a:t>
            </a:r>
            <a:r>
              <a:rPr lang="en-US" dirty="0" smtClean="0"/>
              <a:t>methods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900096"/>
              </p:ext>
            </p:extLst>
          </p:nvPr>
        </p:nvGraphicFramePr>
        <p:xfrm>
          <a:off x="323528" y="1124744"/>
          <a:ext cx="8229600" cy="55702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</a:rPr>
                        <a:t>Listener Interface</a:t>
                      </a:r>
                    </a:p>
                  </a:txBody>
                  <a:tcPr marL="38100" marR="3810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</a:rPr>
                        <a:t>Methods</a:t>
                      </a:r>
                    </a:p>
                  </a:txBody>
                  <a:tcPr marL="95250" marR="95250" marT="95250" marB="952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ActionListener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actionPerformed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ItemListener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itemStateChanged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KeyListener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keyTyped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keyPressed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keyReleased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dirty="0" err="1">
                          <a:effectLst/>
                        </a:rPr>
                        <a:t>MouseListener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US" sz="1800" dirty="0" err="1">
                          <a:effectLst/>
                        </a:rPr>
                        <a:t>mousePressed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US" sz="1800" dirty="0" err="1">
                          <a:effectLst/>
                        </a:rPr>
                        <a:t>mouseClicked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US" sz="1800" dirty="0" err="1">
                          <a:effectLst/>
                        </a:rPr>
                        <a:t>mouseEntered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US" sz="1800" dirty="0" err="1">
                          <a:effectLst/>
                        </a:rPr>
                        <a:t>mouseExited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US" sz="1800" dirty="0" err="1">
                          <a:effectLst/>
                        </a:rPr>
                        <a:t>mouseReleased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MouseMotionListener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mouseMoved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</a:p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mouseDragged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>
                          <a:effectLst/>
                        </a:rPr>
                        <a:t>MouseWheelListener</a:t>
                      </a:r>
                      <a:endParaRPr lang="en-IN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buFont typeface="Arial"/>
                        <a:buChar char="•"/>
                      </a:pPr>
                      <a:r>
                        <a:rPr lang="en-IN" sz="1800" dirty="0" err="1">
                          <a:effectLst/>
                        </a:rPr>
                        <a:t>mouseWheelMoved</a:t>
                      </a:r>
                      <a:r>
                        <a:rPr lang="en-IN" sz="1800" dirty="0">
                          <a:effectLst/>
                        </a:rPr>
                        <a:t>()</a:t>
                      </a:r>
                      <a:endParaRPr lang="en-IN" sz="18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61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8229600" cy="648072"/>
          </a:xfrm>
        </p:spPr>
        <p:txBody>
          <a:bodyPr/>
          <a:lstStyle/>
          <a:p>
            <a:pPr algn="ctr"/>
            <a:r>
              <a:rPr lang="en-US" u="sng" dirty="0" smtClean="0"/>
              <a:t>Mouse Event Handling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5446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b="1" dirty="0"/>
              <a:t>import </a:t>
            </a:r>
            <a:r>
              <a:rPr lang="en-IN" sz="2600" b="1" dirty="0" err="1"/>
              <a:t>java.awt</a:t>
            </a:r>
            <a:r>
              <a:rPr lang="en-IN" sz="2600" b="1" dirty="0"/>
              <a:t>.*;</a:t>
            </a:r>
          </a:p>
          <a:p>
            <a:pPr marL="0" indent="0">
              <a:buNone/>
            </a:pPr>
            <a:r>
              <a:rPr lang="en-IN" sz="2600" b="1" dirty="0"/>
              <a:t>import </a:t>
            </a:r>
            <a:r>
              <a:rPr lang="en-IN" sz="2600" b="1" dirty="0" err="1"/>
              <a:t>java.applet.Applet</a:t>
            </a:r>
            <a:r>
              <a:rPr lang="en-IN" sz="2600" b="1" dirty="0"/>
              <a:t>;</a:t>
            </a:r>
          </a:p>
          <a:p>
            <a:pPr marL="0" indent="0">
              <a:buNone/>
            </a:pPr>
            <a:r>
              <a:rPr lang="en-IN" sz="2600" b="1" dirty="0"/>
              <a:t>import </a:t>
            </a:r>
            <a:r>
              <a:rPr lang="en-IN" sz="2600" b="1" dirty="0" err="1"/>
              <a:t>java.awt.event</a:t>
            </a:r>
            <a:r>
              <a:rPr lang="en-IN" sz="2600" b="1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900" dirty="0"/>
              <a:t>public class StatusApplet2 extends Applet implements </a:t>
            </a:r>
            <a:r>
              <a:rPr lang="en-IN" sz="2900" dirty="0" err="1" smtClean="0"/>
              <a:t>MouseListener</a:t>
            </a:r>
            <a:r>
              <a:rPr lang="en-IN" sz="2900" dirty="0"/>
              <a:t> </a:t>
            </a:r>
            <a:r>
              <a:rPr lang="en-IN" sz="2900" dirty="0" smtClean="0"/>
              <a:t>{</a:t>
            </a:r>
            <a:endParaRPr lang="en-IN" sz="2200" dirty="0"/>
          </a:p>
          <a:p>
            <a:pPr marL="0" indent="0">
              <a:buNone/>
            </a:pPr>
            <a:r>
              <a:rPr lang="en-IN" sz="2700" dirty="0" smtClean="0">
                <a:solidFill>
                  <a:srgbClr val="C00000"/>
                </a:solidFill>
              </a:rPr>
              <a:t>public </a:t>
            </a:r>
            <a:r>
              <a:rPr lang="en-IN" sz="2700" dirty="0">
                <a:solidFill>
                  <a:srgbClr val="C00000"/>
                </a:solidFill>
              </a:rPr>
              <a:t>void </a:t>
            </a:r>
            <a:r>
              <a:rPr lang="en-IN" sz="2700" dirty="0" err="1">
                <a:solidFill>
                  <a:srgbClr val="C00000"/>
                </a:solidFill>
              </a:rPr>
              <a:t>init</a:t>
            </a:r>
            <a:r>
              <a:rPr lang="en-IN" sz="2700" dirty="0">
                <a:solidFill>
                  <a:srgbClr val="C00000"/>
                </a:solidFill>
              </a:rPr>
              <a:t>() {</a:t>
            </a:r>
          </a:p>
          <a:p>
            <a:pPr marL="0" indent="0">
              <a:buNone/>
            </a:pPr>
            <a:r>
              <a:rPr lang="en-IN" sz="2700" b="1" dirty="0">
                <a:solidFill>
                  <a:srgbClr val="0070C0"/>
                </a:solidFill>
              </a:rPr>
              <a:t>        </a:t>
            </a:r>
            <a:r>
              <a:rPr lang="en-IN" sz="2700" b="1" dirty="0" err="1">
                <a:solidFill>
                  <a:srgbClr val="0070C0"/>
                </a:solidFill>
              </a:rPr>
              <a:t>addMouseListener</a:t>
            </a:r>
            <a:r>
              <a:rPr lang="en-IN" sz="2700" b="1" dirty="0">
                <a:solidFill>
                  <a:srgbClr val="0070C0"/>
                </a:solidFill>
              </a:rPr>
              <a:t>(this</a:t>
            </a:r>
            <a:r>
              <a:rPr lang="en-IN" sz="2700" b="1" dirty="0" smtClean="0">
                <a:solidFill>
                  <a:srgbClr val="0070C0"/>
                </a:solidFill>
              </a:rPr>
              <a:t>); //Step 1</a:t>
            </a:r>
            <a:endParaRPr lang="en-IN" sz="27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2700" dirty="0" smtClean="0">
                <a:solidFill>
                  <a:srgbClr val="0070C0"/>
                </a:solidFill>
              </a:rPr>
              <a:t>}</a:t>
            </a:r>
            <a:endParaRPr lang="en-IN" sz="27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2900" dirty="0" smtClean="0">
                <a:solidFill>
                  <a:schemeClr val="accent6">
                    <a:lumMod val="50000"/>
                  </a:schemeClr>
                </a:solidFill>
              </a:rPr>
              <a:t>public 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void </a:t>
            </a:r>
            <a:r>
              <a:rPr lang="en-IN" sz="2900" dirty="0" err="1">
                <a:solidFill>
                  <a:schemeClr val="accent6">
                    <a:lumMod val="50000"/>
                  </a:schemeClr>
                </a:solidFill>
              </a:rPr>
              <a:t>mouseClicked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IN" sz="2900" dirty="0" err="1">
                <a:solidFill>
                  <a:schemeClr val="accent6">
                    <a:lumMod val="50000"/>
                  </a:schemeClr>
                </a:solidFill>
              </a:rPr>
              <a:t>MouseEvent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 e) {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        </a:t>
            </a:r>
            <a:r>
              <a:rPr lang="en-IN" sz="2900" dirty="0" err="1">
                <a:solidFill>
                  <a:schemeClr val="accent6">
                    <a:lumMod val="50000"/>
                  </a:schemeClr>
                </a:solidFill>
              </a:rPr>
              <a:t>showStatus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("Mouse Clicked");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        </a:t>
            </a:r>
            <a:r>
              <a:rPr lang="en-IN" sz="2900" dirty="0" err="1">
                <a:solidFill>
                  <a:schemeClr val="accent6">
                    <a:lumMod val="50000"/>
                  </a:schemeClr>
                </a:solidFill>
              </a:rPr>
              <a:t>setBackground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IN" sz="2900" dirty="0" err="1">
                <a:solidFill>
                  <a:schemeClr val="accent6">
                    <a:lumMod val="50000"/>
                  </a:schemeClr>
                </a:solidFill>
              </a:rPr>
              <a:t>Color.red</a:t>
            </a: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	repaint();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accent6">
                    <a:lumMod val="50000"/>
                  </a:schemeClr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82669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2646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public void </a:t>
            </a:r>
            <a:r>
              <a:rPr lang="en-IN" dirty="0" err="1">
                <a:solidFill>
                  <a:srgbClr val="C00000"/>
                </a:solidFill>
              </a:rPr>
              <a:t>mousePressed</a:t>
            </a: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dirty="0" err="1">
                <a:solidFill>
                  <a:srgbClr val="C00000"/>
                </a:solidFill>
              </a:rPr>
              <a:t>MouseEvent</a:t>
            </a:r>
            <a:r>
              <a:rPr lang="en-IN" dirty="0">
                <a:solidFill>
                  <a:srgbClr val="C00000"/>
                </a:solidFill>
              </a:rPr>
              <a:t> e) {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        </a:t>
            </a:r>
            <a:r>
              <a:rPr lang="en-IN" dirty="0" err="1">
                <a:solidFill>
                  <a:srgbClr val="C00000"/>
                </a:solidFill>
              </a:rPr>
              <a:t>showStatus</a:t>
            </a:r>
            <a:r>
              <a:rPr lang="en-IN" dirty="0">
                <a:solidFill>
                  <a:srgbClr val="C00000"/>
                </a:solidFill>
              </a:rPr>
              <a:t>("Mouse Pressed");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	</a:t>
            </a:r>
            <a:r>
              <a:rPr lang="en-IN" dirty="0" err="1">
                <a:solidFill>
                  <a:srgbClr val="C00000"/>
                </a:solidFill>
              </a:rPr>
              <a:t>setBackground</a:t>
            </a: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dirty="0" err="1">
                <a:solidFill>
                  <a:srgbClr val="C00000"/>
                </a:solidFill>
              </a:rPr>
              <a:t>Color.green</a:t>
            </a:r>
            <a:r>
              <a:rPr lang="en-IN" dirty="0" smtClean="0">
                <a:solidFill>
                  <a:srgbClr val="C00000"/>
                </a:solidFill>
              </a:rPr>
              <a:t>);  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</a:rPr>
              <a:t>}</a:t>
            </a: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rgbClr val="0070C0"/>
                </a:solidFill>
              </a:rPr>
              <a:t>    </a:t>
            </a:r>
            <a:r>
              <a:rPr lang="en-IN" dirty="0">
                <a:solidFill>
                  <a:srgbClr val="0070C0"/>
                </a:solidFill>
              </a:rPr>
              <a:t>public void </a:t>
            </a:r>
            <a:r>
              <a:rPr lang="en-IN" dirty="0" err="1">
                <a:solidFill>
                  <a:srgbClr val="0070C0"/>
                </a:solidFill>
              </a:rPr>
              <a:t>mouseReleased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MouseEvent</a:t>
            </a:r>
            <a:r>
              <a:rPr lang="en-IN" dirty="0">
                <a:solidFill>
                  <a:srgbClr val="0070C0"/>
                </a:solidFill>
              </a:rPr>
              <a:t> e) 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</a:t>
            </a:r>
            <a:r>
              <a:rPr lang="en-IN" dirty="0" err="1">
                <a:solidFill>
                  <a:srgbClr val="0070C0"/>
                </a:solidFill>
              </a:rPr>
              <a:t>showStatus</a:t>
            </a:r>
            <a:r>
              <a:rPr lang="en-IN" dirty="0">
                <a:solidFill>
                  <a:srgbClr val="0070C0"/>
                </a:solidFill>
              </a:rPr>
              <a:t>("Mouse Released");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	</a:t>
            </a:r>
            <a:r>
              <a:rPr lang="en-IN" dirty="0" err="1">
                <a:solidFill>
                  <a:srgbClr val="0070C0"/>
                </a:solidFill>
              </a:rPr>
              <a:t>setBackground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Color.blue</a:t>
            </a:r>
            <a:r>
              <a:rPr lang="en-IN" dirty="0" smtClean="0">
                <a:solidFill>
                  <a:srgbClr val="0070C0"/>
                </a:solidFill>
              </a:rPr>
              <a:t>);    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70C0"/>
                </a:solidFill>
              </a:rPr>
              <a:t>}</a:t>
            </a:r>
            <a:endParaRPr lang="en-I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>
                <a:solidFill>
                  <a:srgbClr val="C00000"/>
                </a:solidFill>
              </a:rPr>
              <a:t>public void </a:t>
            </a:r>
            <a:r>
              <a:rPr lang="en-IN" dirty="0" err="1">
                <a:solidFill>
                  <a:srgbClr val="C00000"/>
                </a:solidFill>
              </a:rPr>
              <a:t>mouseEntered</a:t>
            </a: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dirty="0" err="1">
                <a:solidFill>
                  <a:srgbClr val="C00000"/>
                </a:solidFill>
              </a:rPr>
              <a:t>MouseEvent</a:t>
            </a:r>
            <a:r>
              <a:rPr lang="en-IN" dirty="0">
                <a:solidFill>
                  <a:srgbClr val="C00000"/>
                </a:solidFill>
              </a:rPr>
              <a:t> e) {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        </a:t>
            </a:r>
            <a:r>
              <a:rPr lang="en-IN" dirty="0" err="1">
                <a:solidFill>
                  <a:srgbClr val="C00000"/>
                </a:solidFill>
              </a:rPr>
              <a:t>showStatus</a:t>
            </a:r>
            <a:r>
              <a:rPr lang="en-IN" dirty="0">
                <a:solidFill>
                  <a:srgbClr val="C00000"/>
                </a:solidFill>
              </a:rPr>
              <a:t>("Mouse black");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	</a:t>
            </a:r>
            <a:r>
              <a:rPr lang="en-IN" dirty="0" err="1">
                <a:solidFill>
                  <a:srgbClr val="C00000"/>
                </a:solidFill>
              </a:rPr>
              <a:t>setBackground</a:t>
            </a: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dirty="0" err="1">
                <a:solidFill>
                  <a:srgbClr val="C00000"/>
                </a:solidFill>
              </a:rPr>
              <a:t>Color.black</a:t>
            </a:r>
            <a:r>
              <a:rPr lang="en-IN" dirty="0">
                <a:solidFill>
                  <a:srgbClr val="C0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0070C0"/>
                </a:solidFill>
              </a:rPr>
              <a:t>    </a:t>
            </a:r>
            <a:r>
              <a:rPr lang="en-IN" dirty="0">
                <a:solidFill>
                  <a:srgbClr val="0070C0"/>
                </a:solidFill>
              </a:rPr>
              <a:t>public void </a:t>
            </a:r>
            <a:r>
              <a:rPr lang="en-IN" dirty="0" err="1">
                <a:solidFill>
                  <a:srgbClr val="0070C0"/>
                </a:solidFill>
              </a:rPr>
              <a:t>mouseExited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MouseEvent</a:t>
            </a:r>
            <a:r>
              <a:rPr lang="en-IN" dirty="0">
                <a:solidFill>
                  <a:srgbClr val="0070C0"/>
                </a:solidFill>
              </a:rPr>
              <a:t> e) 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</a:t>
            </a:r>
            <a:r>
              <a:rPr lang="en-IN" dirty="0" err="1">
                <a:solidFill>
                  <a:srgbClr val="0070C0"/>
                </a:solidFill>
              </a:rPr>
              <a:t>showStatus</a:t>
            </a:r>
            <a:r>
              <a:rPr lang="en-IN" dirty="0">
                <a:solidFill>
                  <a:srgbClr val="0070C0"/>
                </a:solidFill>
              </a:rPr>
              <a:t>("Mouse Exited");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	</a:t>
            </a:r>
            <a:r>
              <a:rPr lang="en-IN" dirty="0" err="1">
                <a:solidFill>
                  <a:srgbClr val="0070C0"/>
                </a:solidFill>
              </a:rPr>
              <a:t>setBackground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Color.yellow</a:t>
            </a:r>
            <a:r>
              <a:rPr lang="en-IN" dirty="0">
                <a:solidFill>
                  <a:srgbClr val="0070C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</a:t>
            </a:r>
            <a:r>
              <a:rPr lang="en-IN" dirty="0" smtClean="0">
                <a:solidFill>
                  <a:srgbClr val="0070C0"/>
                </a:solidFill>
              </a:rPr>
              <a:t>}</a:t>
            </a:r>
            <a:r>
              <a:rPr lang="en-IN" dirty="0" smtClean="0"/>
              <a:t>    }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80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C:\Users\!TDEPT\Desktop\Java AIML\ABC1\event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0"/>
            <a:ext cx="4155481" cy="380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!TDEPT\Desktop\Java AIML\ABC1\event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392488" cy="365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:\Users\!TDEPT\Desktop\Java AIML\ABC1\event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939807"/>
            <a:ext cx="4227489" cy="294208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!TDEPT\Desktop\Java AIML\ABC1\event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9807"/>
            <a:ext cx="4392488" cy="291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2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AWT?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AWT stands for Abstract Window Toolkit. It is an initial toolkit library provided by Java to create a Graphical User Interface.</a:t>
            </a:r>
            <a:br>
              <a:rPr lang="en-US" dirty="0"/>
            </a:b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6952"/>
            <a:ext cx="712879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69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664487"/>
              </p:ext>
            </p:extLst>
          </p:nvPr>
        </p:nvGraphicFramePr>
        <p:xfrm>
          <a:off x="251520" y="692696"/>
          <a:ext cx="8424936" cy="5606934"/>
        </p:xfrm>
        <a:graphic>
          <a:graphicData uri="http://schemas.openxmlformats.org/drawingml/2006/table">
            <a:tbl>
              <a:tblPr/>
              <a:tblGrid>
                <a:gridCol w="432048"/>
                <a:gridCol w="7992888"/>
              </a:tblGrid>
              <a:tr h="173884"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Sr. No.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Control &amp; Description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230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2"/>
                        </a:rPr>
                        <a:t>Label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A Label object is a component for placing text in a container.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49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3"/>
                        </a:rPr>
                        <a:t>Button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This class creates a labeled button.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014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4"/>
                        </a:rPr>
                        <a:t>Check Box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A check box is a graphical component that can be in either an </a:t>
                      </a:r>
                      <a:r>
                        <a:rPr lang="en-US" sz="1600" b="1">
                          <a:effectLst/>
                          <a:latin typeface="inherit"/>
                        </a:rPr>
                        <a:t>on</a:t>
                      </a:r>
                      <a:r>
                        <a:rPr lang="en-US" sz="1600">
                          <a:effectLst/>
                        </a:rPr>
                        <a:t> (true) or </a:t>
                      </a:r>
                      <a:r>
                        <a:rPr lang="en-US" sz="1600" b="1">
                          <a:effectLst/>
                          <a:latin typeface="inherit"/>
                        </a:rPr>
                        <a:t>off</a:t>
                      </a:r>
                      <a:r>
                        <a:rPr lang="en-US" sz="1600">
                          <a:effectLst/>
                        </a:rPr>
                        <a:t> (false) state.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230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5"/>
                        </a:rPr>
                        <a:t>Check Box Group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The CheckboxGroup class is used to group the set of checkbox.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230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6"/>
                        </a:rPr>
                        <a:t>List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The List component presents the user with a scrolling list of text items.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014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7"/>
                        </a:rPr>
                        <a:t>Text Field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A TextField object is a text component that allows for the editing of a single line of text.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014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7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8"/>
                        </a:rPr>
                        <a:t>Text Area</a:t>
                      </a:r>
                      <a:endParaRPr lang="en-US" sz="1600">
                        <a:effectLst/>
                      </a:endParaRPr>
                    </a:p>
                    <a:p>
                      <a:pPr algn="l"/>
                      <a:r>
                        <a:rPr lang="en-US" sz="1600">
                          <a:effectLst/>
                        </a:rPr>
                        <a:t>A TextArea object is a text component that allows for the editing of a multiple lines of text.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2796"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strike="noStrike" dirty="0">
                          <a:solidFill>
                            <a:srgbClr val="008000"/>
                          </a:solidFill>
                          <a:effectLst/>
                          <a:latin typeface="inherit"/>
                          <a:hlinkClick r:id="rId9"/>
                        </a:rPr>
                        <a:t>Choice</a:t>
                      </a:r>
                      <a:endParaRPr lang="en-US" sz="1600" dirty="0">
                        <a:effectLst/>
                      </a:endParaRPr>
                    </a:p>
                    <a:p>
                      <a:pPr algn="l"/>
                      <a:r>
                        <a:rPr lang="en-US" sz="1600" dirty="0">
                          <a:effectLst/>
                        </a:rPr>
                        <a:t>A Choice control is used to show pop up menu of choices. Selected choice is shown on the top of the menu.</a:t>
                      </a:r>
                    </a:p>
                  </a:txBody>
                  <a:tcPr marL="22060" marR="22060" marT="22060" marB="2206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18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Creating Controls in Java AWT Applet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create controls (Button, Label, </a:t>
            </a:r>
            <a:r>
              <a:rPr lang="en-US" dirty="0" err="1"/>
              <a:t>TextField</a:t>
            </a:r>
            <a:r>
              <a:rPr lang="en-US" dirty="0"/>
              <a:t>, etc.) in an </a:t>
            </a:r>
            <a:r>
              <a:rPr lang="en-US" b="1" dirty="0"/>
              <a:t>Applet</a:t>
            </a:r>
            <a:r>
              <a:rPr lang="en-US" dirty="0"/>
              <a:t>, the steps are</a:t>
            </a:r>
            <a:r>
              <a:rPr lang="en-US" dirty="0" smtClean="0"/>
              <a:t>: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awt</a:t>
            </a:r>
            <a:r>
              <a:rPr lang="en-US" dirty="0" smtClean="0"/>
              <a:t> and applet packages</a:t>
            </a:r>
            <a:endParaRPr lang="en-US" dirty="0"/>
          </a:p>
          <a:p>
            <a:r>
              <a:rPr lang="en-US" dirty="0"/>
              <a:t>Extend the Applet class</a:t>
            </a:r>
          </a:p>
          <a:p>
            <a:r>
              <a:rPr lang="en-US" dirty="0"/>
              <a:t>Create controls inside </a:t>
            </a:r>
            <a:r>
              <a:rPr lang="en-US" dirty="0" err="1"/>
              <a:t>init</a:t>
            </a:r>
            <a:r>
              <a:rPr lang="en-US" dirty="0"/>
              <a:t>()</a:t>
            </a:r>
          </a:p>
          <a:p>
            <a:r>
              <a:rPr lang="en-US" dirty="0"/>
              <a:t>Add controls using add()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81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914400"/>
          </a:xfrm>
        </p:spPr>
        <p:txBody>
          <a:bodyPr/>
          <a:lstStyle/>
          <a:p>
            <a:pPr algn="ctr"/>
            <a:r>
              <a:rPr lang="en-US" dirty="0" smtClean="0"/>
              <a:t>Label and </a:t>
            </a:r>
            <a:r>
              <a:rPr lang="en-US" dirty="0" err="1" smtClean="0"/>
              <a:t>TextField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446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dirty="0"/>
              <a:t>import </a:t>
            </a:r>
            <a:r>
              <a:rPr lang="en-IN" sz="2600" dirty="0" err="1"/>
              <a:t>java.applet.Applet</a:t>
            </a:r>
            <a:r>
              <a:rPr lang="en-IN" sz="2600" dirty="0"/>
              <a:t>;</a:t>
            </a:r>
          </a:p>
          <a:p>
            <a:pPr marL="0" indent="0">
              <a:buNone/>
            </a:pPr>
            <a:r>
              <a:rPr lang="en-IN" sz="2600" dirty="0"/>
              <a:t>import </a:t>
            </a:r>
            <a:r>
              <a:rPr lang="en-IN" sz="2600" dirty="0" err="1"/>
              <a:t>java.awt</a:t>
            </a:r>
            <a:r>
              <a:rPr lang="en-IN" sz="2600" dirty="0"/>
              <a:t>.*;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public class </a:t>
            </a:r>
            <a:r>
              <a:rPr lang="en-IN" sz="2600" dirty="0" err="1"/>
              <a:t>ControlsApplet</a:t>
            </a:r>
            <a:r>
              <a:rPr lang="en-IN" sz="2600" dirty="0"/>
              <a:t> extends Applet {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Label </a:t>
            </a:r>
            <a:r>
              <a:rPr lang="en-IN" sz="2600" dirty="0" err="1"/>
              <a:t>lbl</a:t>
            </a:r>
            <a:r>
              <a:rPr lang="en-IN" sz="2600" dirty="0"/>
              <a:t>;</a:t>
            </a:r>
          </a:p>
          <a:p>
            <a:pPr marL="0" indent="0">
              <a:buNone/>
            </a:pPr>
            <a:r>
              <a:rPr lang="en-IN" sz="2600" dirty="0"/>
              <a:t>    </a:t>
            </a:r>
            <a:r>
              <a:rPr lang="en-IN" sz="2600" dirty="0" err="1"/>
              <a:t>TextField</a:t>
            </a:r>
            <a:r>
              <a:rPr lang="en-IN" sz="2600" dirty="0"/>
              <a:t> </a:t>
            </a:r>
            <a:r>
              <a:rPr lang="en-IN" sz="2600" dirty="0" err="1"/>
              <a:t>tf</a:t>
            </a:r>
            <a:r>
              <a:rPr lang="en-IN" sz="2600" dirty="0"/>
              <a:t>;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public void </a:t>
            </a:r>
            <a:r>
              <a:rPr lang="en-IN" sz="2600" dirty="0" err="1"/>
              <a:t>init</a:t>
            </a:r>
            <a:r>
              <a:rPr lang="en-IN" sz="2600" dirty="0"/>
              <a:t>() {</a:t>
            </a:r>
          </a:p>
          <a:p>
            <a:pPr marL="0" indent="0">
              <a:buNone/>
            </a:pPr>
            <a:r>
              <a:rPr lang="en-IN" sz="2600" dirty="0"/>
              <a:t>        </a:t>
            </a:r>
            <a:r>
              <a:rPr lang="en-IN" sz="2600" dirty="0" err="1"/>
              <a:t>lbl</a:t>
            </a:r>
            <a:r>
              <a:rPr lang="en-IN" sz="2600" dirty="0"/>
              <a:t> = new Label("Enter Name:");</a:t>
            </a:r>
          </a:p>
          <a:p>
            <a:pPr marL="0" indent="0">
              <a:buNone/>
            </a:pPr>
            <a:r>
              <a:rPr lang="en-IN" sz="2600" dirty="0"/>
              <a:t>        </a:t>
            </a:r>
            <a:r>
              <a:rPr lang="en-IN" sz="2600" dirty="0" err="1"/>
              <a:t>tf</a:t>
            </a:r>
            <a:r>
              <a:rPr lang="en-IN" sz="2600" dirty="0"/>
              <a:t> = new </a:t>
            </a:r>
            <a:r>
              <a:rPr lang="en-IN" sz="2600" dirty="0" err="1"/>
              <a:t>TextField</a:t>
            </a:r>
            <a:r>
              <a:rPr lang="en-IN" sz="2600" dirty="0"/>
              <a:t>(20);</a:t>
            </a:r>
          </a:p>
          <a:p>
            <a:pPr marL="0" indent="0">
              <a:buNone/>
            </a:pPr>
            <a:r>
              <a:rPr lang="en-IN" sz="2600" dirty="0" smtClean="0"/>
              <a:t>        </a:t>
            </a:r>
            <a:r>
              <a:rPr lang="en-IN" sz="2600" dirty="0"/>
              <a:t>add(</a:t>
            </a:r>
            <a:r>
              <a:rPr lang="en-IN" sz="2600" dirty="0" err="1"/>
              <a:t>lbl</a:t>
            </a:r>
            <a:r>
              <a:rPr lang="en-IN" sz="2600" dirty="0"/>
              <a:t>);</a:t>
            </a:r>
          </a:p>
          <a:p>
            <a:pPr marL="0" indent="0">
              <a:buNone/>
            </a:pPr>
            <a:r>
              <a:rPr lang="en-IN" sz="2600" dirty="0"/>
              <a:t>        add(</a:t>
            </a:r>
            <a:r>
              <a:rPr lang="en-IN" sz="2600" dirty="0" err="1"/>
              <a:t>tf</a:t>
            </a:r>
            <a:r>
              <a:rPr lang="en-IN" sz="2600" dirty="0"/>
              <a:t>);</a:t>
            </a:r>
          </a:p>
          <a:p>
            <a:pPr marL="0" indent="0">
              <a:buNone/>
            </a:pPr>
            <a:r>
              <a:rPr lang="en-IN" sz="2600" dirty="0"/>
              <a:t>    }</a:t>
            </a:r>
          </a:p>
          <a:p>
            <a:pPr marL="0" indent="0">
              <a:buNone/>
            </a:pPr>
            <a:r>
              <a:rPr lang="en-IN" sz="2600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15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7211144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Checkbox </a:t>
            </a:r>
            <a:r>
              <a:rPr lang="en-IN" sz="2400" dirty="0" err="1"/>
              <a:t>cb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 err="1" smtClean="0"/>
              <a:t>CheckboxGroup</a:t>
            </a:r>
            <a:r>
              <a:rPr lang="en-IN" sz="2400" dirty="0" smtClean="0"/>
              <a:t> </a:t>
            </a:r>
            <a:r>
              <a:rPr lang="en-IN" sz="2400" dirty="0"/>
              <a:t>cg;</a:t>
            </a:r>
          </a:p>
          <a:p>
            <a:pPr marL="0" indent="0">
              <a:buNone/>
            </a:pPr>
            <a:r>
              <a:rPr lang="en-IN" sz="2400" dirty="0"/>
              <a:t>Checkbox male, female;</a:t>
            </a:r>
          </a:p>
          <a:p>
            <a:pPr marL="0" indent="0">
              <a:buNone/>
            </a:pPr>
            <a:r>
              <a:rPr lang="en-US" sz="2400" dirty="0" smtClean="0"/>
              <a:t>Button </a:t>
            </a:r>
            <a:r>
              <a:rPr lang="en-US" sz="2400" dirty="0" err="1" smtClean="0"/>
              <a:t>btn</a:t>
            </a:r>
            <a:r>
              <a:rPr lang="en-US" sz="2400" dirty="0" smtClean="0"/>
              <a:t>;</a:t>
            </a:r>
            <a:endParaRPr lang="en-IN" sz="2400" dirty="0"/>
          </a:p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</a:rPr>
              <a:t>public void </a:t>
            </a:r>
            <a:r>
              <a:rPr lang="en-IN" sz="2400" dirty="0" err="1">
                <a:solidFill>
                  <a:srgbClr val="C00000"/>
                </a:solidFill>
              </a:rPr>
              <a:t>init</a:t>
            </a:r>
            <a:r>
              <a:rPr lang="en-IN" sz="2400" dirty="0">
                <a:solidFill>
                  <a:srgbClr val="C00000"/>
                </a:solidFill>
              </a:rPr>
              <a:t>() </a:t>
            </a:r>
            <a:r>
              <a:rPr lang="en-IN" sz="2400" dirty="0" smtClean="0"/>
              <a:t>{</a:t>
            </a:r>
          </a:p>
          <a:p>
            <a:pPr marL="0" indent="0">
              <a:buNone/>
            </a:pPr>
            <a:r>
              <a:rPr lang="en-IN" sz="2400" dirty="0" smtClean="0"/>
              <a:t> </a:t>
            </a:r>
            <a:r>
              <a:rPr lang="en-IN" sz="2400" dirty="0" err="1" smtClean="0"/>
              <a:t>cb</a:t>
            </a:r>
            <a:r>
              <a:rPr lang="en-IN" sz="2400" dirty="0" smtClean="0"/>
              <a:t> = new Checkbox("I Agree");</a:t>
            </a:r>
          </a:p>
          <a:p>
            <a:pPr marL="0" indent="0">
              <a:buNone/>
            </a:pPr>
            <a:r>
              <a:rPr lang="en-IN" sz="2400" dirty="0" smtClean="0"/>
              <a:t> cg </a:t>
            </a:r>
            <a:r>
              <a:rPr lang="en-IN" sz="2400" dirty="0"/>
              <a:t>= new </a:t>
            </a:r>
            <a:r>
              <a:rPr lang="en-IN" sz="2400" dirty="0" err="1"/>
              <a:t>CheckboxGroup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dirty="0" smtClean="0"/>
              <a:t>male </a:t>
            </a:r>
            <a:r>
              <a:rPr lang="en-IN" sz="2400" dirty="0"/>
              <a:t>= new Checkbox("Male", cg, true);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dirty="0" smtClean="0"/>
              <a:t>female </a:t>
            </a:r>
            <a:r>
              <a:rPr lang="en-IN" sz="2400" dirty="0"/>
              <a:t>= new Checkbox("Female", cg, false);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11960" y="980728"/>
            <a:ext cx="457200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IN" sz="2400" dirty="0"/>
              <a:t> </a:t>
            </a:r>
            <a:r>
              <a:rPr lang="en-IN" sz="2400" dirty="0" smtClean="0"/>
              <a:t>   </a:t>
            </a:r>
            <a:r>
              <a:rPr lang="en-IN" sz="2400" dirty="0" smtClean="0">
                <a:solidFill>
                  <a:srgbClr val="7030A0"/>
                </a:solidFill>
              </a:rPr>
              <a:t>add(</a:t>
            </a:r>
            <a:r>
              <a:rPr lang="en-IN" sz="2400" dirty="0" err="1" smtClean="0">
                <a:solidFill>
                  <a:srgbClr val="7030A0"/>
                </a:solidFill>
              </a:rPr>
              <a:t>cb</a:t>
            </a:r>
            <a:r>
              <a:rPr lang="en-IN" sz="2400" dirty="0">
                <a:solidFill>
                  <a:srgbClr val="7030A0"/>
                </a:solidFill>
              </a:rPr>
              <a:t>);</a:t>
            </a:r>
          </a:p>
          <a:p>
            <a:r>
              <a:rPr lang="en-IN" sz="2400" dirty="0">
                <a:solidFill>
                  <a:srgbClr val="7030A0"/>
                </a:solidFill>
              </a:rPr>
              <a:t>    add(male);</a:t>
            </a:r>
          </a:p>
          <a:p>
            <a:r>
              <a:rPr lang="en-IN" sz="2400" dirty="0">
                <a:solidFill>
                  <a:srgbClr val="7030A0"/>
                </a:solidFill>
              </a:rPr>
              <a:t>    add(female);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btn</a:t>
            </a:r>
            <a:r>
              <a:rPr lang="en-US" sz="2400" dirty="0"/>
              <a:t> = new Button("Submit");</a:t>
            </a:r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rgbClr val="7030A0"/>
                </a:solidFill>
              </a:rPr>
              <a:t>add(</a:t>
            </a:r>
            <a:r>
              <a:rPr lang="en-US" sz="2400" dirty="0" err="1">
                <a:solidFill>
                  <a:srgbClr val="7030A0"/>
                </a:solidFill>
              </a:rPr>
              <a:t>btn</a:t>
            </a:r>
            <a:r>
              <a:rPr lang="en-US" sz="2400" dirty="0">
                <a:solidFill>
                  <a:srgbClr val="7030A0"/>
                </a:solidFill>
              </a:rPr>
              <a:t>);</a:t>
            </a:r>
            <a:endParaRPr lang="en-IN" sz="2400" dirty="0">
              <a:solidFill>
                <a:srgbClr val="7030A0"/>
              </a:solidFill>
            </a:endParaRP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683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2646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java.applet.Applet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</a:t>
            </a:r>
          </a:p>
          <a:p>
            <a:pPr marL="0" indent="0">
              <a:buNone/>
            </a:pPr>
            <a:r>
              <a:rPr lang="en-IN" dirty="0" smtClean="0"/>
              <a:t>public </a:t>
            </a:r>
            <a:r>
              <a:rPr lang="en-IN" dirty="0"/>
              <a:t>class </a:t>
            </a:r>
            <a:r>
              <a:rPr lang="en-IN" dirty="0" err="1"/>
              <a:t>AllControlsApplet</a:t>
            </a:r>
            <a:r>
              <a:rPr lang="en-IN" dirty="0"/>
              <a:t> extends Applet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100" dirty="0"/>
              <a:t>    public void </a:t>
            </a:r>
            <a:r>
              <a:rPr lang="en-IN" sz="2100" dirty="0" err="1"/>
              <a:t>init</a:t>
            </a:r>
            <a:r>
              <a:rPr lang="en-IN" sz="2100" dirty="0"/>
              <a:t>() {</a:t>
            </a:r>
          </a:p>
          <a:p>
            <a:pPr marL="0" indent="0">
              <a:buNone/>
            </a:pPr>
            <a:r>
              <a:rPr lang="en-IN" sz="2100" dirty="0" smtClean="0"/>
              <a:t>        </a:t>
            </a:r>
            <a:r>
              <a:rPr lang="en-IN" sz="2100" dirty="0"/>
              <a:t>add(new Label("Name:"));</a:t>
            </a:r>
          </a:p>
          <a:p>
            <a:pPr marL="0" indent="0">
              <a:buNone/>
            </a:pPr>
            <a:r>
              <a:rPr lang="en-IN" sz="2100" dirty="0"/>
              <a:t>        add(new </a:t>
            </a:r>
            <a:r>
              <a:rPr lang="en-IN" sz="2100" dirty="0" err="1"/>
              <a:t>TextField</a:t>
            </a:r>
            <a:r>
              <a:rPr lang="en-IN" sz="2100" dirty="0"/>
              <a:t>(20));</a:t>
            </a:r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r>
              <a:rPr lang="en-IN" sz="2100" dirty="0"/>
              <a:t>        add(new Button("Submit"));</a:t>
            </a:r>
          </a:p>
          <a:p>
            <a:pPr marL="0" indent="0">
              <a:buNone/>
            </a:pPr>
            <a:r>
              <a:rPr lang="en-IN" sz="2100" dirty="0"/>
              <a:t>        add(new Button("Clear"));</a:t>
            </a:r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r>
              <a:rPr lang="en-IN" sz="2100" dirty="0"/>
              <a:t>        add(new Checkbox("I Agree"));</a:t>
            </a:r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r>
              <a:rPr lang="en-IN" sz="2100" dirty="0"/>
              <a:t>        </a:t>
            </a:r>
            <a:r>
              <a:rPr lang="en-IN" sz="2100" dirty="0" err="1"/>
              <a:t>CheckboxGroup</a:t>
            </a:r>
            <a:r>
              <a:rPr lang="en-IN" sz="2100" dirty="0"/>
              <a:t> cg = new </a:t>
            </a:r>
            <a:r>
              <a:rPr lang="en-IN" sz="2100" dirty="0" err="1"/>
              <a:t>CheckboxGroup</a:t>
            </a:r>
            <a:r>
              <a:rPr lang="en-IN" sz="2100" dirty="0"/>
              <a:t>();</a:t>
            </a:r>
          </a:p>
          <a:p>
            <a:pPr marL="0" indent="0">
              <a:buNone/>
            </a:pPr>
            <a:r>
              <a:rPr lang="en-IN" sz="2100" dirty="0"/>
              <a:t>        add(new Checkbox("Male", cg, true));</a:t>
            </a:r>
          </a:p>
          <a:p>
            <a:pPr marL="0" indent="0">
              <a:buNone/>
            </a:pPr>
            <a:r>
              <a:rPr lang="en-IN" sz="2100" dirty="0"/>
              <a:t>        add(new Checkbox("Female", cg, false));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13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76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Choice </a:t>
            </a:r>
            <a:r>
              <a:rPr lang="en-IN" dirty="0" err="1"/>
              <a:t>ch</a:t>
            </a:r>
            <a:r>
              <a:rPr lang="en-IN" dirty="0"/>
              <a:t> = new Choice();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ch.add</a:t>
            </a:r>
            <a:r>
              <a:rPr lang="en-IN" dirty="0"/>
              <a:t>("Java");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ch.add</a:t>
            </a:r>
            <a:r>
              <a:rPr lang="en-IN" dirty="0"/>
              <a:t>("Python");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ch.add</a:t>
            </a:r>
            <a:r>
              <a:rPr lang="en-IN" dirty="0"/>
              <a:t>("C++");</a:t>
            </a:r>
          </a:p>
          <a:p>
            <a:pPr marL="0" indent="0">
              <a:buNone/>
            </a:pPr>
            <a:r>
              <a:rPr lang="en-IN" dirty="0"/>
              <a:t>        add(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List </a:t>
            </a:r>
            <a:r>
              <a:rPr lang="en-IN" dirty="0" err="1"/>
              <a:t>lst</a:t>
            </a:r>
            <a:r>
              <a:rPr lang="en-IN" dirty="0"/>
              <a:t> = new List(4, true);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lst.add</a:t>
            </a:r>
            <a:r>
              <a:rPr lang="en-IN" dirty="0"/>
              <a:t>("Red");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lst.add</a:t>
            </a:r>
            <a:r>
              <a:rPr lang="en-IN" dirty="0"/>
              <a:t>("Blue");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lst.add</a:t>
            </a:r>
            <a:r>
              <a:rPr lang="en-IN" dirty="0"/>
              <a:t>("Green");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lst.add</a:t>
            </a:r>
            <a:r>
              <a:rPr lang="en-IN" dirty="0"/>
              <a:t>("Black");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        </a:t>
            </a:r>
            <a:endParaRPr lang="en-IN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IN" dirty="0" smtClean="0"/>
              <a:t>         add(</a:t>
            </a:r>
            <a:r>
              <a:rPr lang="en-IN" dirty="0" err="1" smtClean="0"/>
              <a:t>lst</a:t>
            </a:r>
            <a:r>
              <a:rPr lang="en-IN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 smtClean="0"/>
              <a:t>        </a:t>
            </a:r>
            <a:r>
              <a:rPr lang="en-IN" dirty="0"/>
              <a:t>add(new </a:t>
            </a:r>
            <a:r>
              <a:rPr lang="en-IN" dirty="0" err="1"/>
              <a:t>TextArea</a:t>
            </a:r>
            <a:r>
              <a:rPr lang="en-IN" dirty="0"/>
              <a:t>(5, 20));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smtClean="0"/>
              <a:t>}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31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836712"/>
            <a:ext cx="6120680" cy="5505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440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01" y="667544"/>
            <a:ext cx="8229600" cy="914400"/>
          </a:xfrm>
        </p:spPr>
        <p:txBody>
          <a:bodyPr>
            <a:noAutofit/>
          </a:bodyPr>
          <a:lstStyle/>
          <a:p>
            <a:pPr algn="ctr" fontAlgn="base"/>
            <a:r>
              <a:rPr lang="en-IN" sz="2400" b="1" u="sng" dirty="0">
                <a:solidFill>
                  <a:srgbClr val="0070C0"/>
                </a:solidFill>
              </a:rPr>
              <a:t>Introduction to Java Swing</a:t>
            </a: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3821" y="1340768"/>
            <a:ext cx="88924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Swing </a:t>
            </a:r>
            <a:r>
              <a:rPr lang="en-US" sz="2000" dirty="0"/>
              <a:t>is a Java Foundation Classes [JFC] library and an extension of the Abstract Window Toolkit [AWT]. </a:t>
            </a:r>
            <a:r>
              <a:rPr lang="en-US" sz="2000" b="1" i="1" dirty="0" smtClean="0"/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Java Swing offers much-improved functionality over AWT, new components, expanded components features, and excellent event handling with drag-and-drop support</a:t>
            </a:r>
            <a:r>
              <a:rPr lang="en-US" sz="2000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Swing is a Set of API (API- Set of Classes and Interfaces</a:t>
            </a:r>
            <a:r>
              <a:rPr lang="en-US" sz="2000" dirty="0" smtClean="0"/>
              <a:t>) which </a:t>
            </a:r>
            <a:r>
              <a:rPr lang="en-US" sz="2000" dirty="0"/>
              <a:t>Provided to Design Graphical User </a:t>
            </a:r>
            <a:r>
              <a:rPr lang="en-US" sz="2000" dirty="0" smtClean="0"/>
              <a:t>Interfaces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Swing is an Extension library to the </a:t>
            </a:r>
            <a:r>
              <a:rPr lang="en-US" sz="2000" smtClean="0"/>
              <a:t>AWT which </a:t>
            </a:r>
            <a:r>
              <a:rPr lang="en-US" sz="2000"/>
              <a:t>Includes New and improved Components that have been enhancing the looks and Functionality of GUIs’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/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263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975" y="548680"/>
            <a:ext cx="8229600" cy="914400"/>
          </a:xfrm>
        </p:spPr>
        <p:txBody>
          <a:bodyPr>
            <a:noAutofit/>
          </a:bodyPr>
          <a:lstStyle/>
          <a:p>
            <a:pPr fontAlgn="base"/>
            <a:r>
              <a:rPr lang="en-US" sz="2400" b="1" dirty="0"/>
              <a:t>Difference between Java Swing and Java AWT</a:t>
            </a:r>
          </a:p>
        </p:txBody>
      </p:sp>
      <p:sp>
        <p:nvSpPr>
          <p:cNvPr id="3" name="AutoShape 2" descr="Applet Life Cycle in Java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Java Applet And Its Life Cycle – Its Java Hel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386337"/>
              </p:ext>
            </p:extLst>
          </p:nvPr>
        </p:nvGraphicFramePr>
        <p:xfrm>
          <a:off x="827584" y="1185472"/>
          <a:ext cx="7920880" cy="5546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60440"/>
                <a:gridCol w="3960440"/>
              </a:tblGrid>
              <a:tr h="62102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dirty="0">
                          <a:solidFill>
                            <a:srgbClr val="C00000"/>
                          </a:solidFill>
                          <a:effectLst/>
                        </a:rPr>
                        <a:t>Java AWT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dirty="0">
                          <a:solidFill>
                            <a:srgbClr val="C00000"/>
                          </a:solidFill>
                          <a:effectLst/>
                        </a:rPr>
                        <a:t>Java Swing</a:t>
                      </a:r>
                      <a:endParaRPr lang="en-IN" sz="24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95250" marR="95250" marT="95250" marB="95250" anchor="ctr"/>
                </a:tc>
              </a:tr>
              <a:tr h="112682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Java AWT is an API to develop GUI applications in Java.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>
                          <a:effectLst/>
                        </a:rPr>
                        <a:t>Swing is a part of Java Foundation Classes and is used to create various applications.</a:t>
                      </a:r>
                      <a:endParaRPr lang="en-US" sz="2000" b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9959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Components of AWT are heavy weighted.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The components of Java Swing are lightweight.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83603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>
                          <a:effectLst/>
                        </a:rPr>
                        <a:t>Components are platform dependent.</a:t>
                      </a:r>
                      <a:endParaRPr lang="en-IN" sz="20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dirty="0">
                          <a:effectLst/>
                        </a:rPr>
                        <a:t>Components are platform independent.</a:t>
                      </a:r>
                      <a:endParaRPr lang="en-IN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83603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Execution Time is more than Swing.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Execution Time is less than AWT.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  <a:tr h="9959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>
                          <a:effectLst/>
                        </a:rPr>
                        <a:t>AWT components require java.awt package. </a:t>
                      </a:r>
                      <a:endParaRPr lang="en-IN" sz="20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dirty="0">
                          <a:effectLst/>
                        </a:rPr>
                        <a:t>Swing components requires </a:t>
                      </a:r>
                      <a:r>
                        <a:rPr lang="en-US" sz="2000" dirty="0" err="1">
                          <a:effectLst/>
                        </a:rPr>
                        <a:t>javax.swing</a:t>
                      </a:r>
                      <a:r>
                        <a:rPr lang="en-US" sz="2000" dirty="0">
                          <a:effectLst/>
                        </a:rPr>
                        <a:t> package.</a:t>
                      </a:r>
                      <a:endParaRPr lang="en-US" sz="2000" b="0" dirty="0">
                        <a:effectLst/>
                      </a:endParaRP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1610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QLnjpDmemWvdkPv8CNhL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nqtrpMJHznzW6iQWuGb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TlgkWg9GbD75tZxSe07S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eXH6ortg5F8MBDBCXffNY"/>
</p:tagLst>
</file>

<file path=ppt/theme/theme1.xml><?xml version="1.0" encoding="utf-8"?>
<a:theme xmlns:a="http://schemas.openxmlformats.org/drawingml/2006/main" name="Project Status Rep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ProjectStatusReport</Template>
  <TotalTime>0</TotalTime>
  <Words>1626</Words>
  <Application>Microsoft Office PowerPoint</Application>
  <PresentationFormat>On-screen Show (4:3)</PresentationFormat>
  <Paragraphs>318</Paragraphs>
  <Slides>30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Project Status Report</vt:lpstr>
      <vt:lpstr>Presentation on Java Programming (IT207G)</vt:lpstr>
      <vt:lpstr>Parameter in Applet    </vt:lpstr>
      <vt:lpstr>UseParam.java     </vt:lpstr>
      <vt:lpstr>PowerPoint Presentation</vt:lpstr>
      <vt:lpstr>Practical:</vt:lpstr>
      <vt:lpstr>Displaying Graphics in Applet   </vt:lpstr>
      <vt:lpstr>PowerPoint Presentation</vt:lpstr>
      <vt:lpstr> How to drawArc() and fillArc() work?    </vt:lpstr>
      <vt:lpstr> How to drawArc() and fillArc() work?    </vt:lpstr>
      <vt:lpstr>PowerPoint Presentation</vt:lpstr>
      <vt:lpstr>Practical:</vt:lpstr>
      <vt:lpstr>Practical:</vt:lpstr>
      <vt:lpstr>AWT Event Handling</vt:lpstr>
      <vt:lpstr>Delegation Event model</vt:lpstr>
      <vt:lpstr>Steps to perform Event handling</vt:lpstr>
      <vt:lpstr>PowerPoint Presentation</vt:lpstr>
      <vt:lpstr>Different interfaces consists of different methods</vt:lpstr>
      <vt:lpstr>Mouse Event Handling</vt:lpstr>
      <vt:lpstr>PowerPoint Presentation</vt:lpstr>
      <vt:lpstr>PowerPoint Presentation</vt:lpstr>
      <vt:lpstr>What is AWT? </vt:lpstr>
      <vt:lpstr>PowerPoint Presentation</vt:lpstr>
      <vt:lpstr>Creating Controls in Java AWT Applet </vt:lpstr>
      <vt:lpstr>Label and TextField</vt:lpstr>
      <vt:lpstr>PowerPoint Presentation</vt:lpstr>
      <vt:lpstr>PowerPoint Presentation</vt:lpstr>
      <vt:lpstr>PowerPoint Presentation</vt:lpstr>
      <vt:lpstr>PowerPoint Presentation</vt:lpstr>
      <vt:lpstr>Introduction to Java Swing</vt:lpstr>
      <vt:lpstr>Difference between Java Swing and Java AWT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2024-01-09T06:05:42Z</dcterms:created>
  <dcterms:modified xsi:type="dcterms:W3CDTF">2025-11-17T10:38:01Z</dcterms:modified>
</cp:coreProperties>
</file>