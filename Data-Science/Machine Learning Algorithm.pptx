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9EAB-2EDD-A607-C984-2987E25B6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23CEC-FCEA-F2F2-1ED5-F3B73C52F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53EFC-0810-D1FF-FEA3-98257E66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09AA2-4E61-BA58-2093-C7A7F048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E4C42-58CD-3A2C-4596-37CEEAC0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8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DE3B-65F4-AE05-7B67-FAC7AD27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5141B-E07C-BD59-ECB4-7B6712959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FD94-07F9-C50D-E359-2A67EFC3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8C5C5-8CC3-4F0C-2CDE-F7832978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3DDA1-38D6-3A7C-CCEF-D6C44907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87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9084-FE77-01E0-DDBA-1189FE83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6E4DD-A374-3E3A-32D3-4CA5EC508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28EE9-8DCF-DE36-FA8F-45ED5B83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4A213-4B4E-27B4-ABF4-CC3BDDE0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EF22A-6760-8D2D-3A33-C9CA8572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43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EA57-CBCB-6688-9917-B37543CE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4BE9-9CA2-E3E6-AB46-AC7D9F8C6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AF391-2A49-2002-3FCE-9C37E36FF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41B54-534E-6FAB-26AD-20794805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D9A22-5D3F-DC7E-BCE3-16AB5F3A9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4E2E0-6C34-DFF8-1858-4B99D2A2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67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3443-BE65-FAF3-8553-13F09321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548F9-6C82-8E98-19C7-68DC408F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642DE-41A7-BC91-9F6B-CD2C1B320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C7491-5D3E-4F83-309F-874391A9A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02B54-BF86-BD46-425B-F9D3A4EAC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9BC86-1B7B-E550-C4F7-AC3B6DA1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DFC694-1F0B-F8E5-B524-909A954F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1B720-34C2-0E70-4203-BCA3ED99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1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4179-5EF7-2B65-E5D1-58A8D387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EF5B0-F3DA-DDF9-24BE-F7367E00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E5875-8A5D-0929-F2D9-F73D9DE6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E2A2F-932D-DA6E-D46D-FFD9F0F9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900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DFAC6-723D-A429-A46C-DB694671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9C035-3A37-920E-DF40-592FB796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A63E9-1763-370C-E55B-248B8E1D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36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1518-45DB-FBFA-5295-E933027A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4F52D-8E22-41DE-315C-8030D68FF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1CB32-9CCA-1755-5C8D-289459370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3202-1E2E-F757-E4B0-B7709168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97805-7C89-9AA2-9EFA-5CC0728D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35D5B-76BE-9F28-8724-DCAA7EF2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42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4E0B-CD4A-79EB-47E5-759CFCF9C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4FA5C4-EB58-9D66-8D90-DBDDC40A0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E0310-D16B-D212-7C3F-A5B27E68F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44C6D-A0C3-9B84-F5B8-2FA16734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C0DA1-FE49-9488-51AF-A49ECB5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3DFFD-45EF-586A-73DB-7EA7AE8A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58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CB8A-E55B-5FBB-DEF6-DC209627C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42973-FF4D-69DE-7E07-05AA177EC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9F4DE-EF24-22B3-667A-7264517F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2E4B-F959-A340-F00C-AAE590BA4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6AF61-C7FE-23EF-8BCE-5A8072C25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1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63332-558D-52AF-B91C-CA1C46551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F8F89-B45F-9211-CE58-16819F224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D3CE5-0229-45A6-1F01-5C8FE98DD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A93D3-9E93-2080-6CDE-353DC490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2E3CE-B69E-D2BB-8CF5-F7E1901A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4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2546E-02AF-D6CA-4125-F1E21A52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708DA-E378-D875-6A99-05F21D4FB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582FD-C406-E6F2-B341-59293E68F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E2D70-C935-4C98-AABD-001CD1B9691D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1170-1F91-F31F-97AF-D51B298152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1AA4-E152-5D76-1C4F-ABF264849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AC024-1092-433F-AA0B-7711014E53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75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A7ED-AD67-890B-2526-FB624BAE0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Machine Learning Algorithm</a:t>
            </a:r>
          </a:p>
        </p:txBody>
      </p:sp>
    </p:spTree>
    <p:extLst>
      <p:ext uri="{BB962C8B-B14F-4D97-AF65-F5344CB8AC3E}">
        <p14:creationId xmlns:p14="http://schemas.microsoft.com/office/powerpoint/2010/main" val="52352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6490-ADC3-5A9B-D03C-89D5CBCE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56347-9DC1-835A-869D-5920CF896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Linear Regression</a:t>
            </a:r>
            <a:r>
              <a:rPr lang="en-US" sz="2400" dirty="0"/>
              <a:t> is one of the simplest and most widely used algorithms in machine learning and statistics. Its goal is to model the relationship between a dependent variable (target) and one or more independent variables (features).</a:t>
            </a:r>
          </a:p>
          <a:p>
            <a:pPr marL="0" indent="0" algn="just">
              <a:buNone/>
            </a:pPr>
            <a:r>
              <a:rPr lang="en-US" sz="2400" dirty="0"/>
              <a:t>Imagine you run a shop and want to predict your sales based on advertising spend. You collect past data: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You notice a pattern: as ad spend increases, sales increase. </a:t>
            </a:r>
            <a:r>
              <a:rPr lang="en-US" sz="2400" b="1" dirty="0"/>
              <a:t>Linear Regression</a:t>
            </a:r>
            <a:r>
              <a:rPr lang="en-US" sz="2400" dirty="0"/>
              <a:t> helps you draw the "best-fit" straight line through such data to make predictions.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IN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2262F1-1A12-4744-A6DA-E7A9BA571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31255"/>
              </p:ext>
            </p:extLst>
          </p:nvPr>
        </p:nvGraphicFramePr>
        <p:xfrm>
          <a:off x="2151921" y="3732689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745228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93895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 Spend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Sales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78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128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692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91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49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3FD01-E82A-E79B-145C-A5685BE53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Types of Linear Regression:</a:t>
            </a:r>
          </a:p>
          <a:p>
            <a:pPr marL="514350" indent="-514350">
              <a:buAutoNum type="arabicPeriod"/>
            </a:pPr>
            <a:r>
              <a:rPr lang="en-IN" sz="2400" dirty="0"/>
              <a:t>Simple Linear Regression: </a:t>
            </a:r>
          </a:p>
          <a:p>
            <a:pPr>
              <a:buFontTx/>
              <a:buChar char="-"/>
            </a:pPr>
            <a:r>
              <a:rPr lang="en-IN" sz="2400" dirty="0"/>
              <a:t>One independent variable (e.g., Ad spend -&gt; Sales)</a:t>
            </a:r>
          </a:p>
          <a:p>
            <a:pPr marL="0" indent="0">
              <a:buNone/>
            </a:pPr>
            <a:r>
              <a:rPr lang="en-IN" sz="2400" dirty="0"/>
              <a:t>2. Multiple Linear Regression:</a:t>
            </a:r>
          </a:p>
          <a:p>
            <a:pPr marL="0" indent="0">
              <a:buNone/>
            </a:pPr>
            <a:r>
              <a:rPr lang="en-IN" sz="2400" dirty="0"/>
              <a:t>- Multiple independent variable (e.g. Ad spend + Location + Day of week -&gt; Sales)</a:t>
            </a:r>
          </a:p>
        </p:txBody>
      </p:sp>
    </p:spTree>
    <p:extLst>
      <p:ext uri="{BB962C8B-B14F-4D97-AF65-F5344CB8AC3E}">
        <p14:creationId xmlns:p14="http://schemas.microsoft.com/office/powerpoint/2010/main" val="3565677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645E-0F35-EC2A-438C-40F3FFA8A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sklearn.linear_model</a:t>
            </a:r>
            <a:r>
              <a:rPr lang="en-IN" dirty="0"/>
              <a:t> import </a:t>
            </a:r>
            <a:r>
              <a:rPr lang="en-IN" dirty="0" err="1"/>
              <a:t>LinearRegression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Sample data</a:t>
            </a:r>
          </a:p>
          <a:p>
            <a:pPr marL="0" indent="0">
              <a:buNone/>
            </a:pPr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([[1], [2], [3], [4]])</a:t>
            </a:r>
          </a:p>
          <a:p>
            <a:pPr marL="0" indent="0">
              <a:buNone/>
            </a:pP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([3, 5, 7, 9])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Create and train the model</a:t>
            </a:r>
          </a:p>
          <a:p>
            <a:pPr marL="0" indent="0">
              <a:buNone/>
            </a:pPr>
            <a:r>
              <a:rPr lang="en-IN" dirty="0"/>
              <a:t>model = </a:t>
            </a:r>
            <a:r>
              <a:rPr lang="en-IN" dirty="0" err="1"/>
              <a:t>LinearRegression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err="1"/>
              <a:t>model.fit</a:t>
            </a:r>
            <a:r>
              <a:rPr lang="en-IN" dirty="0"/>
              <a:t>(X, y)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Predict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model.predict</a:t>
            </a:r>
            <a:r>
              <a:rPr lang="en-IN" dirty="0"/>
              <a:t>([[5]]))  # Should output ~11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661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43508-B8C0-F13B-260C-C79A80EAA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u="sng" dirty="0"/>
              <a:t>Applications:</a:t>
            </a:r>
          </a:p>
          <a:p>
            <a:pPr>
              <a:buFontTx/>
              <a:buChar char="-"/>
            </a:pPr>
            <a:r>
              <a:rPr lang="en-IN" sz="2400" dirty="0"/>
              <a:t>Predicting house prices</a:t>
            </a:r>
          </a:p>
          <a:p>
            <a:pPr>
              <a:buFontTx/>
              <a:buChar char="-"/>
            </a:pPr>
            <a:r>
              <a:rPr lang="en-IN" sz="2400" dirty="0"/>
              <a:t>Forecasting sales</a:t>
            </a:r>
          </a:p>
          <a:p>
            <a:pPr>
              <a:buFontTx/>
              <a:buChar char="-"/>
            </a:pPr>
            <a:r>
              <a:rPr lang="en-IN" sz="2400" dirty="0"/>
              <a:t>Risk Assessment</a:t>
            </a:r>
          </a:p>
          <a:p>
            <a:pPr>
              <a:buFontTx/>
              <a:buChar char="-"/>
            </a:pPr>
            <a:r>
              <a:rPr lang="en-IN" sz="2400" dirty="0"/>
              <a:t>Budget Planning</a:t>
            </a:r>
          </a:p>
          <a:p>
            <a:pPr marL="0" indent="0">
              <a:buNone/>
            </a:pPr>
            <a:r>
              <a:rPr lang="en-IN" sz="2400" u="sng" dirty="0"/>
              <a:t>Limitations:</a:t>
            </a:r>
          </a:p>
          <a:p>
            <a:pPr>
              <a:buFontTx/>
              <a:buChar char="-"/>
            </a:pPr>
            <a:r>
              <a:rPr lang="en-IN" sz="2400" dirty="0"/>
              <a:t>Assumes a linear relationship</a:t>
            </a:r>
          </a:p>
          <a:p>
            <a:pPr>
              <a:buFontTx/>
              <a:buChar char="-"/>
            </a:pPr>
            <a:r>
              <a:rPr lang="en-IN" sz="2400" dirty="0"/>
              <a:t>Sensitive to outliers</a:t>
            </a:r>
          </a:p>
          <a:p>
            <a:pPr>
              <a:buFontTx/>
              <a:buChar char="-"/>
            </a:pPr>
            <a:r>
              <a:rPr lang="it-IT" sz="2400" dirty="0"/>
              <a:t>Can't model complex patterns (non-linear)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105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FD9D-5D8F-1555-B101-0C764245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69107-CCA5-F666-9047-2E5C329C3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Logistic Regression</a:t>
            </a:r>
            <a:r>
              <a:rPr lang="en-US" sz="2400" dirty="0"/>
              <a:t> helps us </a:t>
            </a:r>
            <a:r>
              <a:rPr lang="en-US" sz="2400" b="1" dirty="0"/>
              <a:t>predict categories</a:t>
            </a:r>
            <a:r>
              <a:rPr lang="en-US" sz="2400" dirty="0"/>
              <a:t> — like Yes or No, 1 or 0, True or False.</a:t>
            </a:r>
          </a:p>
          <a:p>
            <a:r>
              <a:rPr lang="en-US" sz="2400" dirty="0"/>
              <a:t>If </a:t>
            </a:r>
            <a:r>
              <a:rPr lang="en-US" sz="2400" b="1" dirty="0"/>
              <a:t>Linear Regression predicts numbers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b="1" dirty="0"/>
              <a:t>Logistic Regression predicts probability-based decisions.</a:t>
            </a:r>
          </a:p>
          <a:p>
            <a:pPr marL="0" indent="0">
              <a:buNone/>
            </a:pPr>
            <a:r>
              <a:rPr lang="en-US" sz="2400" dirty="0"/>
              <a:t>Say you run a coaching class. Based on </a:t>
            </a:r>
            <a:r>
              <a:rPr lang="en-US" sz="2400" b="1" dirty="0"/>
              <a:t>hours studied</a:t>
            </a:r>
            <a:r>
              <a:rPr lang="en-US" sz="2400" dirty="0"/>
              <a:t>, you want to predict:</a:t>
            </a:r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48F96C-DE64-6D61-E2D3-5958B6E23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30415"/>
              </p:ext>
            </p:extLst>
          </p:nvPr>
        </p:nvGraphicFramePr>
        <p:xfrm>
          <a:off x="1897088" y="3852610"/>
          <a:ext cx="8128000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967710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75185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Hours Studied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Passed (1 = Yes, 0 = No)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43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9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0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62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990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473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22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41CB0-5188-1A36-C474-8CA40E19E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notice: more study hours → more chance of passing.</a:t>
            </a:r>
          </a:p>
          <a:p>
            <a:pPr marL="0" indent="0">
              <a:buNone/>
            </a:pPr>
            <a:r>
              <a:rPr lang="en-US" sz="2400" dirty="0"/>
              <a:t>But instead of drawing a straight line (like Linear Regression), </a:t>
            </a:r>
            <a:r>
              <a:rPr lang="en-US" sz="2400" b="1" dirty="0"/>
              <a:t>Logistic Regression curves the prediction between 0 and 1</a:t>
            </a:r>
            <a:r>
              <a:rPr lang="en-US" sz="2400" dirty="0"/>
              <a:t> — like a smooth S-shaped curve.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Where Do We Use Logistic Regression?</a:t>
            </a:r>
          </a:p>
          <a:p>
            <a:pPr>
              <a:buFontTx/>
              <a:buChar char="-"/>
            </a:pPr>
            <a:r>
              <a:rPr lang="en-US" sz="2400" dirty="0"/>
              <a:t>Will a customer buy or not?</a:t>
            </a:r>
          </a:p>
          <a:p>
            <a:pPr>
              <a:buFontTx/>
              <a:buChar char="-"/>
            </a:pPr>
            <a:r>
              <a:rPr lang="en-US" sz="2400" dirty="0"/>
              <a:t>Is this email spam or not?</a:t>
            </a:r>
          </a:p>
          <a:p>
            <a:pPr>
              <a:buFontTx/>
              <a:buChar char="-"/>
            </a:pPr>
            <a:r>
              <a:rPr lang="en-US" sz="2400" dirty="0"/>
              <a:t>Will a patient test positive or not?</a:t>
            </a:r>
            <a:endParaRPr lang="en-US" sz="2400" b="1" dirty="0"/>
          </a:p>
          <a:p>
            <a:pPr>
              <a:buFontTx/>
              <a:buChar char="-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684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94B5-0F80-B891-D86C-96A883A88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000" dirty="0"/>
              <a:t>from </a:t>
            </a:r>
            <a:r>
              <a:rPr lang="en-IN" sz="2000" dirty="0" err="1"/>
              <a:t>sklearn.linear_model</a:t>
            </a:r>
            <a:r>
              <a:rPr lang="en-IN" sz="2000" dirty="0"/>
              <a:t> import </a:t>
            </a:r>
            <a:r>
              <a:rPr lang="en-IN" sz="2000" dirty="0" err="1"/>
              <a:t>LogisticRegression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numpy</a:t>
            </a:r>
            <a:r>
              <a:rPr lang="en-IN" sz="2000" dirty="0"/>
              <a:t> as np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 Hours studied (input)</a:t>
            </a:r>
          </a:p>
          <a:p>
            <a:pPr marL="0" indent="0">
              <a:buNone/>
            </a:pPr>
            <a:r>
              <a:rPr lang="en-IN" sz="2000" dirty="0"/>
              <a:t>X = </a:t>
            </a:r>
            <a:r>
              <a:rPr lang="en-IN" sz="2000" dirty="0" err="1"/>
              <a:t>np.array</a:t>
            </a:r>
            <a:r>
              <a:rPr lang="en-IN" sz="2000" dirty="0"/>
              <a:t>([[1], [2], [3], [4], [5]])</a:t>
            </a:r>
          </a:p>
          <a:p>
            <a:pPr marL="0" indent="0">
              <a:buNone/>
            </a:pPr>
            <a:r>
              <a:rPr lang="en-IN" sz="2000" dirty="0"/>
              <a:t># Pass (1) or Fail (0)</a:t>
            </a:r>
          </a:p>
          <a:p>
            <a:pPr marL="0" indent="0">
              <a:buNone/>
            </a:pPr>
            <a:r>
              <a:rPr lang="en-IN" sz="2000" dirty="0"/>
              <a:t>y = </a:t>
            </a:r>
            <a:r>
              <a:rPr lang="en-IN" sz="2000" dirty="0" err="1"/>
              <a:t>np.array</a:t>
            </a:r>
            <a:r>
              <a:rPr lang="en-IN" sz="2000" dirty="0"/>
              <a:t>([0, 0, 0, 1, 1])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 Train model</a:t>
            </a:r>
          </a:p>
          <a:p>
            <a:pPr marL="0" indent="0">
              <a:buNone/>
            </a:pPr>
            <a:r>
              <a:rPr lang="en-IN" sz="2000" dirty="0"/>
              <a:t>model = </a:t>
            </a:r>
            <a:r>
              <a:rPr lang="en-IN" sz="2000" dirty="0" err="1"/>
              <a:t>LogisticRegression</a:t>
            </a:r>
            <a:r>
              <a:rPr lang="en-IN" sz="2000" dirty="0"/>
              <a:t>()</a:t>
            </a:r>
          </a:p>
          <a:p>
            <a:pPr marL="0" indent="0">
              <a:buNone/>
            </a:pPr>
            <a:r>
              <a:rPr lang="en-IN" sz="2000" dirty="0" err="1"/>
              <a:t>model.fit</a:t>
            </a:r>
            <a:r>
              <a:rPr lang="en-IN" sz="2000" dirty="0"/>
              <a:t>(X, y)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 Predict for 3 hours of study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model.predict</a:t>
            </a:r>
            <a:r>
              <a:rPr lang="en-IN" sz="2000" dirty="0"/>
              <a:t>([[3]]))         # Output: [1] → likely to pass</a:t>
            </a:r>
          </a:p>
          <a:p>
            <a:pPr marL="0" indent="0">
              <a:buNone/>
            </a:pPr>
            <a:r>
              <a:rPr lang="en-IN" sz="2000" dirty="0"/>
              <a:t>print(</a:t>
            </a:r>
            <a:r>
              <a:rPr lang="en-IN" sz="2000" dirty="0" err="1"/>
              <a:t>model.predict_proba</a:t>
            </a:r>
            <a:r>
              <a:rPr lang="en-IN" sz="2000" dirty="0"/>
              <a:t>([[3]]))   # Output: [[0.3, 0.7]] → 70% chance of passing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1358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03CE-D393-C539-6954-0F8FC8241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KNN (K-Nearest </a:t>
            </a:r>
            <a:r>
              <a:rPr lang="en-IN" dirty="0" err="1"/>
              <a:t>Neighbors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778B0-2775-869D-E9C4-F02BD1B4B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KNN is a very simple algorithm</a:t>
            </a:r>
            <a:r>
              <a:rPr lang="en-US" sz="2400" dirty="0"/>
              <a:t> used for </a:t>
            </a:r>
            <a:r>
              <a:rPr lang="en-US" sz="2400" b="1" dirty="0"/>
              <a:t>classification</a:t>
            </a:r>
            <a:r>
              <a:rPr lang="en-US" sz="2400" dirty="0"/>
              <a:t> and sometimes </a:t>
            </a:r>
            <a:r>
              <a:rPr lang="en-US" sz="2400" b="1" dirty="0"/>
              <a:t>regression</a:t>
            </a:r>
          </a:p>
          <a:p>
            <a:pPr marL="0" indent="0">
              <a:buNone/>
            </a:pPr>
            <a:r>
              <a:rPr lang="en-US" sz="2400" dirty="0"/>
              <a:t>It predicts the class of a data point by looking at the “k” closest points around it.</a:t>
            </a:r>
          </a:p>
          <a:p>
            <a:pPr marL="0" indent="0">
              <a:buNone/>
            </a:pPr>
            <a:r>
              <a:rPr lang="en-US" sz="2400" dirty="0"/>
              <a:t>Let’s say you're in a classroom and want to guess if a student will pass or fail.</a:t>
            </a:r>
          </a:p>
          <a:p>
            <a:pPr marL="0" indent="0">
              <a:buNone/>
            </a:pPr>
            <a:r>
              <a:rPr lang="en-US" sz="2400" dirty="0"/>
              <a:t>You look at </a:t>
            </a:r>
            <a:r>
              <a:rPr lang="en-US" sz="2400" b="1" dirty="0"/>
              <a:t>3 classmates (k = 3)</a:t>
            </a:r>
            <a:r>
              <a:rPr lang="en-US" sz="2400" dirty="0"/>
              <a:t> who studied a similar number of hours.</a:t>
            </a:r>
          </a:p>
          <a:p>
            <a:pPr marL="0" indent="0">
              <a:buNone/>
            </a:pPr>
            <a:r>
              <a:rPr lang="en-US" sz="2400" dirty="0"/>
              <a:t>If 2 of them passed and 1 failed → you predict this student will </a:t>
            </a:r>
            <a:r>
              <a:rPr lang="en-US" sz="2400" b="1" dirty="0"/>
              <a:t>pass</a:t>
            </a:r>
            <a:r>
              <a:rPr lang="en-US" sz="2400" dirty="0"/>
              <a:t> (majority vote).</a:t>
            </a:r>
          </a:p>
          <a:p>
            <a:pPr marL="0" indent="0">
              <a:buNone/>
            </a:pPr>
            <a:r>
              <a:rPr lang="en-US" sz="2400" dirty="0"/>
              <a:t>KNN looks at the k closest neighbors and picks the most common label among them.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155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EC894-AF03-ADF1-6D41-46494AE8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How It Works:</a:t>
            </a:r>
          </a:p>
          <a:p>
            <a:pPr marL="514350" indent="-514350">
              <a:buAutoNum type="arabicPeriod"/>
            </a:pPr>
            <a:r>
              <a:rPr lang="en-US" sz="2400" dirty="0"/>
              <a:t>Choose a value for </a:t>
            </a:r>
            <a:r>
              <a:rPr lang="en-US" sz="2400" b="1" dirty="0"/>
              <a:t>k</a:t>
            </a:r>
            <a:r>
              <a:rPr lang="en-US" sz="2400" dirty="0"/>
              <a:t> (like 3 or 5)</a:t>
            </a:r>
          </a:p>
          <a:p>
            <a:pPr marL="514350" indent="-514350">
              <a:buAutoNum type="arabicPeriod"/>
            </a:pPr>
            <a:r>
              <a:rPr lang="en-US" sz="2400" dirty="0"/>
              <a:t>Measure </a:t>
            </a:r>
            <a:r>
              <a:rPr lang="en-US" sz="2400" b="1" dirty="0"/>
              <a:t>distance</a:t>
            </a:r>
            <a:r>
              <a:rPr lang="en-US" sz="2400" dirty="0"/>
              <a:t> between the new point and all other points (usually Euclidean distance)</a:t>
            </a:r>
          </a:p>
          <a:p>
            <a:pPr marL="514350" indent="-514350">
              <a:buAutoNum type="arabicPeriod"/>
            </a:pPr>
            <a:r>
              <a:rPr lang="en-US" sz="2400" dirty="0"/>
              <a:t>Pick the </a:t>
            </a:r>
            <a:r>
              <a:rPr lang="en-US" sz="2400" b="1" dirty="0"/>
              <a:t>k nearest points</a:t>
            </a:r>
          </a:p>
          <a:p>
            <a:pPr marL="514350" indent="-514350">
              <a:buAutoNum type="arabicPeriod"/>
            </a:pPr>
            <a:r>
              <a:rPr lang="en-US" sz="2400" dirty="0"/>
              <a:t>Predict the class that’s </a:t>
            </a:r>
            <a:r>
              <a:rPr lang="en-US" sz="2400" b="1" dirty="0"/>
              <a:t>most common</a:t>
            </a:r>
            <a:r>
              <a:rPr lang="en-US" sz="2400" dirty="0"/>
              <a:t> among them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08615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05C9-0B60-CDCB-3722-4CC4CB5C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sklearn.neighbors</a:t>
            </a:r>
            <a:r>
              <a:rPr lang="en-IN" dirty="0"/>
              <a:t> import </a:t>
            </a:r>
            <a:r>
              <a:rPr lang="en-IN" dirty="0" err="1"/>
              <a:t>KNeighborsClassifier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Example data: Hours studied → Passed (1) or Failed (0)</a:t>
            </a:r>
          </a:p>
          <a:p>
            <a:pPr marL="0" indent="0">
              <a:buNone/>
            </a:pPr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([[1], [2], [3], [4], [5]])</a:t>
            </a:r>
          </a:p>
          <a:p>
            <a:pPr marL="0" indent="0">
              <a:buNone/>
            </a:pP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([0, 0, 0, 1, 1])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Create model with k = 3</a:t>
            </a:r>
          </a:p>
          <a:p>
            <a:pPr marL="0" indent="0">
              <a:buNone/>
            </a:pPr>
            <a:r>
              <a:rPr lang="en-IN" dirty="0" err="1"/>
              <a:t>knn</a:t>
            </a:r>
            <a:r>
              <a:rPr lang="en-IN" dirty="0"/>
              <a:t> = </a:t>
            </a:r>
            <a:r>
              <a:rPr lang="en-IN" dirty="0" err="1"/>
              <a:t>KNeighborsClassifier</a:t>
            </a:r>
            <a:r>
              <a:rPr lang="en-IN" dirty="0"/>
              <a:t>(</a:t>
            </a:r>
            <a:r>
              <a:rPr lang="en-IN" dirty="0" err="1"/>
              <a:t>n_neighbors</a:t>
            </a:r>
            <a:r>
              <a:rPr lang="en-IN" dirty="0"/>
              <a:t>=3)</a:t>
            </a:r>
          </a:p>
          <a:p>
            <a:pPr marL="0" indent="0">
              <a:buNone/>
            </a:pPr>
            <a:r>
              <a:rPr lang="en-IN" dirty="0" err="1"/>
              <a:t>knn.fit</a:t>
            </a:r>
            <a:r>
              <a:rPr lang="en-IN" dirty="0"/>
              <a:t>(X, y)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Predict for a new student who studied 3.5 hours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knn.predict</a:t>
            </a:r>
            <a:r>
              <a:rPr lang="en-IN" dirty="0"/>
              <a:t>([[3.5]]))         # Output: [1] → likely to pass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knn.predict_proba</a:t>
            </a:r>
            <a:r>
              <a:rPr lang="en-IN" dirty="0"/>
              <a:t>([[3.5]]))   # Output: [[0.33, 0.67]]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671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39C1E-FBDC-9E08-9032-A7CA12529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Key Takeaways:</a:t>
            </a:r>
          </a:p>
          <a:p>
            <a:pPr>
              <a:buFontTx/>
              <a:buChar char="-"/>
            </a:pPr>
            <a:r>
              <a:rPr lang="en-US" sz="2400" dirty="0"/>
              <a:t>Stores the whole dataset and makes decisions </a:t>
            </a:r>
            <a:r>
              <a:rPr lang="en-US" sz="2400" b="1" dirty="0"/>
              <a:t>at prediction time.</a:t>
            </a:r>
          </a:p>
          <a:p>
            <a:pPr>
              <a:buFontTx/>
              <a:buChar char="-"/>
            </a:pPr>
            <a:r>
              <a:rPr lang="en-US" sz="2400" dirty="0"/>
              <a:t>Best with </a:t>
            </a:r>
            <a:r>
              <a:rPr lang="en-US" sz="2400" b="1" dirty="0"/>
              <a:t>small to medium datasets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IN" sz="2400" dirty="0"/>
              <a:t>Limitations:</a:t>
            </a:r>
          </a:p>
          <a:p>
            <a:pPr>
              <a:buFontTx/>
              <a:buChar char="-"/>
            </a:pPr>
            <a:r>
              <a:rPr lang="en-US" sz="2400" b="1" dirty="0"/>
              <a:t>Slow</a:t>
            </a:r>
            <a:r>
              <a:rPr lang="en-US" sz="2400" dirty="0"/>
              <a:t> with large datasets (because it checks all points)</a:t>
            </a:r>
          </a:p>
          <a:p>
            <a:pPr>
              <a:buFontTx/>
              <a:buChar char="-"/>
            </a:pPr>
            <a:r>
              <a:rPr lang="en-US" sz="2400" dirty="0"/>
              <a:t>Needs a good choice of </a:t>
            </a:r>
            <a:r>
              <a:rPr lang="en-US" sz="2400" b="1" dirty="0"/>
              <a:t>k</a:t>
            </a:r>
          </a:p>
          <a:p>
            <a:pPr>
              <a:buFontTx/>
              <a:buChar char="-"/>
            </a:pPr>
            <a:r>
              <a:rPr lang="en-US" sz="2400" b="1" dirty="0"/>
              <a:t>Sensitive</a:t>
            </a:r>
            <a:r>
              <a:rPr lang="en-US" sz="2400" dirty="0"/>
              <a:t> to irrelevant features and scale (use normalization!)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64690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2622-1919-67E3-6411-48253EC7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246F-CF12-7139-81F9-330A57E8A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Decision Tree</a:t>
            </a:r>
            <a:r>
              <a:rPr lang="en-US" dirty="0"/>
              <a:t> is a model that makes decisions by </a:t>
            </a:r>
            <a:r>
              <a:rPr lang="en-US" b="1" dirty="0"/>
              <a:t>asking a series of questions</a:t>
            </a:r>
            <a:r>
              <a:rPr lang="en-US" dirty="0"/>
              <a:t> — like a flowchart.</a:t>
            </a:r>
          </a:p>
          <a:p>
            <a:pPr marL="0" indent="0">
              <a:buNone/>
            </a:pPr>
            <a:r>
              <a:rPr lang="en-IN" dirty="0"/>
              <a:t>It splits the data step by step to classify or predict based on feature values.</a:t>
            </a:r>
          </a:p>
          <a:p>
            <a:pPr marL="0" indent="0">
              <a:buNone/>
            </a:pPr>
            <a:r>
              <a:rPr lang="en-US" dirty="0"/>
              <a:t>A decision tree splits the data based on questions, and each answer leads to a prediction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684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FB2BD-5914-BC23-7D0B-078266A67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You’re deciding if a student will pass:</a:t>
            </a:r>
          </a:p>
          <a:p>
            <a:pPr marL="0" indent="0">
              <a:buNone/>
            </a:pPr>
            <a:r>
              <a:rPr lang="en-US" sz="2400" b="1" dirty="0"/>
              <a:t>Q1</a:t>
            </a:r>
            <a:r>
              <a:rPr lang="en-US" sz="2400" dirty="0"/>
              <a:t>: Did the student study more than 3 hours?</a:t>
            </a:r>
          </a:p>
          <a:p>
            <a:pPr marL="457200" lvl="1" indent="0">
              <a:buNone/>
            </a:pPr>
            <a:r>
              <a:rPr lang="en-US" dirty="0"/>
              <a:t>If </a:t>
            </a:r>
            <a:r>
              <a:rPr lang="en-US" b="1" dirty="0"/>
              <a:t>No</a:t>
            </a:r>
            <a:r>
              <a:rPr lang="en-US" dirty="0"/>
              <a:t> → Predict: Fail</a:t>
            </a:r>
          </a:p>
          <a:p>
            <a:pPr marL="457200" lvl="1" indent="0">
              <a:buNone/>
            </a:pPr>
            <a:r>
              <a:rPr lang="en-US" dirty="0"/>
              <a:t>If </a:t>
            </a:r>
            <a:r>
              <a:rPr lang="en-US" b="1" dirty="0"/>
              <a:t>Yes</a:t>
            </a:r>
            <a:r>
              <a:rPr lang="en-US" dirty="0"/>
              <a:t> →</a:t>
            </a:r>
          </a:p>
          <a:p>
            <a:pPr marL="914400" lvl="2" indent="0">
              <a:buNone/>
            </a:pPr>
            <a:r>
              <a:rPr lang="en-US" sz="2400" b="1" dirty="0"/>
              <a:t>Q2</a:t>
            </a:r>
            <a:r>
              <a:rPr lang="en-US" sz="2400" dirty="0"/>
              <a:t>: Did the student attend class regularly?</a:t>
            </a:r>
          </a:p>
          <a:p>
            <a:pPr marL="1371600" lvl="3" indent="0">
              <a:buNone/>
            </a:pPr>
            <a:r>
              <a:rPr lang="en-US" sz="2400" dirty="0"/>
              <a:t>If </a:t>
            </a:r>
            <a:r>
              <a:rPr lang="en-US" sz="2400" b="1" dirty="0"/>
              <a:t>Yes</a:t>
            </a:r>
            <a:r>
              <a:rPr lang="en-US" sz="2400" dirty="0"/>
              <a:t> → Predict: Pass</a:t>
            </a:r>
          </a:p>
          <a:p>
            <a:pPr marL="1371600" lvl="3" indent="0">
              <a:buNone/>
            </a:pPr>
            <a:r>
              <a:rPr lang="en-US" sz="2400" dirty="0"/>
              <a:t>If </a:t>
            </a:r>
            <a:r>
              <a:rPr lang="en-US" sz="2400" b="1" dirty="0"/>
              <a:t>No</a:t>
            </a:r>
            <a:r>
              <a:rPr lang="en-US" sz="2400" dirty="0"/>
              <a:t> → Predict: Maybe Fail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798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2B2CF-2E69-F2AD-E692-46AB604E8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Key Features:</a:t>
            </a:r>
          </a:p>
          <a:p>
            <a:pPr>
              <a:buFontTx/>
              <a:buChar char="-"/>
            </a:pPr>
            <a:r>
              <a:rPr lang="en-US" sz="2400" dirty="0"/>
              <a:t>Easy to </a:t>
            </a:r>
            <a:r>
              <a:rPr lang="en-US" sz="2400" b="1" dirty="0"/>
              <a:t>understand</a:t>
            </a:r>
            <a:r>
              <a:rPr lang="en-US" sz="2400" dirty="0"/>
              <a:t> and </a:t>
            </a:r>
            <a:r>
              <a:rPr lang="en-US" sz="2400" b="1" dirty="0"/>
              <a:t>visualize</a:t>
            </a:r>
          </a:p>
          <a:p>
            <a:pPr>
              <a:buFontTx/>
              <a:buChar char="-"/>
            </a:pPr>
            <a:r>
              <a:rPr lang="en-US" sz="2400" dirty="0"/>
              <a:t>Can be used for </a:t>
            </a:r>
            <a:r>
              <a:rPr lang="en-US" sz="2400" b="1" dirty="0"/>
              <a:t>classification</a:t>
            </a:r>
            <a:r>
              <a:rPr lang="en-US" sz="2400" dirty="0"/>
              <a:t> and </a:t>
            </a:r>
            <a:r>
              <a:rPr lang="en-US" sz="2400" b="1" dirty="0"/>
              <a:t>regression</a:t>
            </a:r>
          </a:p>
          <a:p>
            <a:pPr>
              <a:buFontTx/>
              <a:buChar char="-"/>
            </a:pPr>
            <a:r>
              <a:rPr lang="en-US" sz="2400" dirty="0"/>
              <a:t>Doesn’t need data to be scaled</a:t>
            </a:r>
          </a:p>
          <a:p>
            <a:pPr marL="0" indent="0">
              <a:buNone/>
            </a:pPr>
            <a:r>
              <a:rPr lang="en-IN" sz="2400" dirty="0"/>
              <a:t>Limitations:</a:t>
            </a:r>
          </a:p>
          <a:p>
            <a:pPr marL="0" indent="0">
              <a:buNone/>
            </a:pPr>
            <a:r>
              <a:rPr lang="en-IN" sz="2400" dirty="0"/>
              <a:t>- </a:t>
            </a:r>
            <a:r>
              <a:rPr lang="en-US" sz="2400" dirty="0"/>
              <a:t>Can </a:t>
            </a:r>
            <a:r>
              <a:rPr lang="en-US" sz="2400" b="1" dirty="0"/>
              <a:t>overfit</a:t>
            </a:r>
            <a:r>
              <a:rPr lang="en-US" sz="2400" dirty="0"/>
              <a:t> (too many branches)</a:t>
            </a:r>
          </a:p>
          <a:p>
            <a:pPr marL="0" indent="0">
              <a:buNone/>
            </a:pPr>
            <a:r>
              <a:rPr lang="en-US" sz="2400" dirty="0"/>
              <a:t>- Not great with </a:t>
            </a:r>
            <a:r>
              <a:rPr lang="en-US" sz="2400" b="1" dirty="0"/>
              <a:t>small changes</a:t>
            </a:r>
            <a:r>
              <a:rPr lang="en-US" sz="2400" dirty="0"/>
              <a:t> in data (can flip decisions)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0868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B9C2-5DAC-B385-816F-12E480D47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sklearn.tree</a:t>
            </a:r>
            <a:r>
              <a:rPr lang="en-IN" dirty="0"/>
              <a:t> import </a:t>
            </a:r>
            <a:r>
              <a:rPr lang="en-IN" dirty="0" err="1"/>
              <a:t>DecisionTreeClassifier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Hours studied → Passed (1) or Failed (0)</a:t>
            </a:r>
          </a:p>
          <a:p>
            <a:pPr marL="0" indent="0">
              <a:buNone/>
            </a:pPr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([[1], [2], [3], [4], [5]])</a:t>
            </a:r>
          </a:p>
          <a:p>
            <a:pPr marL="0" indent="0">
              <a:buNone/>
            </a:pP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([0, 0, 0, 1, 1])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Create and train the tree</a:t>
            </a:r>
          </a:p>
          <a:p>
            <a:pPr marL="0" indent="0">
              <a:buNone/>
            </a:pPr>
            <a:r>
              <a:rPr lang="en-IN" dirty="0"/>
              <a:t>tree = </a:t>
            </a:r>
            <a:r>
              <a:rPr lang="en-IN" dirty="0" err="1"/>
              <a:t>DecisionTreeClassifier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err="1"/>
              <a:t>tree.fit</a:t>
            </a:r>
            <a:r>
              <a:rPr lang="en-IN" dirty="0"/>
              <a:t>(X, y)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Predict for a new student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tree.predict</a:t>
            </a:r>
            <a:r>
              <a:rPr lang="en-IN" dirty="0"/>
              <a:t>([[3.5]]))         # Output: [1] → likely to pass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343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60FF-2E73-585F-6CE4-3C412813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4B26-B208-8F8E-1376-2E4355762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Random Forest</a:t>
            </a:r>
            <a:r>
              <a:rPr lang="en-US" sz="2400" dirty="0"/>
              <a:t> is like a </a:t>
            </a:r>
            <a:r>
              <a:rPr lang="en-US" sz="2400" b="1" dirty="0"/>
              <a:t>team of Decision Trees</a:t>
            </a:r>
            <a:r>
              <a:rPr lang="en-US" sz="2400" dirty="0"/>
              <a:t> working together.</a:t>
            </a:r>
          </a:p>
          <a:p>
            <a:pPr marL="0" indent="0">
              <a:buNone/>
            </a:pPr>
            <a:r>
              <a:rPr lang="en-US" sz="2400" dirty="0"/>
              <a:t>Each tree gives a prediction, and the forest takes a </a:t>
            </a:r>
            <a:r>
              <a:rPr lang="en-US" sz="2400" b="1" dirty="0"/>
              <a:t>majority vote</a:t>
            </a:r>
            <a:r>
              <a:rPr lang="en-US" sz="2400" dirty="0"/>
              <a:t> (for classification) or </a:t>
            </a:r>
            <a:r>
              <a:rPr lang="en-US" sz="2400" b="1" dirty="0"/>
              <a:t>average</a:t>
            </a:r>
            <a:r>
              <a:rPr lang="en-US" sz="2400" dirty="0"/>
              <a:t> (for regression).</a:t>
            </a:r>
          </a:p>
          <a:p>
            <a:pPr marL="0" indent="0">
              <a:buNone/>
            </a:pPr>
            <a:r>
              <a:rPr lang="en-US" sz="2400" dirty="0"/>
              <a:t>Random Forest builds many decision trees and combines their results for better accuracy and stability.</a:t>
            </a:r>
          </a:p>
          <a:p>
            <a:pPr marL="0" indent="0">
              <a:buNone/>
            </a:pPr>
            <a:r>
              <a:rPr lang="en-IN" sz="2400" u="sng" dirty="0"/>
              <a:t>Real-Life Analogy:</a:t>
            </a:r>
          </a:p>
          <a:p>
            <a:pPr marL="0" indent="0">
              <a:buNone/>
            </a:pPr>
            <a:r>
              <a:rPr lang="en-US" sz="2400" dirty="0"/>
              <a:t>Imagine asking </a:t>
            </a:r>
            <a:r>
              <a:rPr lang="en-US" sz="2400" b="1" dirty="0"/>
              <a:t>10 doctors</a:t>
            </a:r>
            <a:r>
              <a:rPr lang="en-US" sz="2400" dirty="0"/>
              <a:t> if a patient is sick.</a:t>
            </a:r>
          </a:p>
          <a:p>
            <a:pPr>
              <a:buFontTx/>
              <a:buChar char="-"/>
            </a:pPr>
            <a:r>
              <a:rPr lang="en-US" sz="2400" dirty="0"/>
              <a:t>7 say “yes”, 3 say “no” → You trust the </a:t>
            </a:r>
            <a:r>
              <a:rPr lang="en-US" sz="2400" b="1" dirty="0"/>
              <a:t>majority</a:t>
            </a:r>
            <a:r>
              <a:rPr lang="en-US" sz="2400" dirty="0"/>
              <a:t>.</a:t>
            </a:r>
          </a:p>
          <a:p>
            <a:pPr>
              <a:buFontTx/>
              <a:buChar char="-"/>
            </a:pPr>
            <a:r>
              <a:rPr lang="en-US" sz="2400" dirty="0"/>
              <a:t>This is </a:t>
            </a:r>
            <a:r>
              <a:rPr lang="en-US" sz="2400" b="1" dirty="0"/>
              <a:t>more reliable</a:t>
            </a:r>
            <a:r>
              <a:rPr lang="en-US" sz="2400" dirty="0"/>
              <a:t> than asking just </a:t>
            </a:r>
            <a:r>
              <a:rPr lang="en-US" sz="2400" b="1" dirty="0"/>
              <a:t>one doctor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20329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E35B-CA6C-C251-2EF3-E0065DD07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/>
              <a:t>Why Use Random Forest?</a:t>
            </a:r>
          </a:p>
          <a:p>
            <a:pPr>
              <a:buFontTx/>
              <a:buChar char="-"/>
            </a:pPr>
            <a:r>
              <a:rPr lang="en-US" sz="2400" dirty="0"/>
              <a:t>More </a:t>
            </a:r>
            <a:r>
              <a:rPr lang="en-US" sz="2400" b="1" dirty="0"/>
              <a:t>accurate</a:t>
            </a:r>
            <a:r>
              <a:rPr lang="en-US" sz="2400" dirty="0"/>
              <a:t> than a single Decision Tree</a:t>
            </a:r>
          </a:p>
          <a:p>
            <a:pPr>
              <a:buFontTx/>
              <a:buChar char="-"/>
            </a:pPr>
            <a:r>
              <a:rPr lang="en-IN" sz="2400" dirty="0"/>
              <a:t>Reduces </a:t>
            </a:r>
            <a:r>
              <a:rPr lang="en-IN" sz="2400" b="1" dirty="0"/>
              <a:t>overfitting</a:t>
            </a:r>
          </a:p>
          <a:p>
            <a:pPr>
              <a:buFontTx/>
              <a:buChar char="-"/>
            </a:pPr>
            <a:r>
              <a:rPr lang="en-US" sz="2400" dirty="0"/>
              <a:t>Works well with </a:t>
            </a:r>
            <a:r>
              <a:rPr lang="en-US" sz="2400" b="1" dirty="0"/>
              <a:t>missing data</a:t>
            </a:r>
            <a:r>
              <a:rPr lang="en-US" sz="2400" dirty="0"/>
              <a:t> and </a:t>
            </a:r>
            <a:r>
              <a:rPr lang="en-US" sz="2400" b="1" dirty="0"/>
              <a:t>noisy data</a:t>
            </a:r>
          </a:p>
          <a:p>
            <a:pPr marL="0" indent="0">
              <a:buNone/>
            </a:pPr>
            <a:r>
              <a:rPr lang="en-IN" dirty="0"/>
              <a:t>Key Benefits:</a:t>
            </a:r>
          </a:p>
          <a:p>
            <a:pPr>
              <a:buFontTx/>
              <a:buChar char="-"/>
            </a:pPr>
            <a:r>
              <a:rPr lang="en-IN" sz="2400" dirty="0"/>
              <a:t>High </a:t>
            </a:r>
            <a:r>
              <a:rPr lang="en-IN" sz="2400" b="1" dirty="0"/>
              <a:t>accuracy</a:t>
            </a:r>
          </a:p>
          <a:p>
            <a:pPr>
              <a:buFontTx/>
              <a:buChar char="-"/>
            </a:pPr>
            <a:r>
              <a:rPr lang="en-US" sz="2400" dirty="0"/>
              <a:t>Works well even without </a:t>
            </a:r>
            <a:r>
              <a:rPr lang="en-US" sz="2400" b="1" dirty="0"/>
              <a:t>feature scaling</a:t>
            </a:r>
          </a:p>
          <a:p>
            <a:pPr>
              <a:buFontTx/>
              <a:buChar char="-"/>
            </a:pPr>
            <a:r>
              <a:rPr lang="en-IN" sz="2400" dirty="0"/>
              <a:t>Can handle </a:t>
            </a:r>
            <a:r>
              <a:rPr lang="en-IN" sz="2400" b="1" dirty="0"/>
              <a:t>large datasets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81393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9F430-5FB6-3019-24D9-B2CE4AC8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Limitations:</a:t>
            </a:r>
          </a:p>
          <a:p>
            <a:pPr>
              <a:buFontTx/>
              <a:buChar char="-"/>
            </a:pPr>
            <a:r>
              <a:rPr lang="en-US" dirty="0"/>
              <a:t>Slower to train than a single tree</a:t>
            </a:r>
          </a:p>
          <a:p>
            <a:pPr>
              <a:buFontTx/>
              <a:buChar char="-"/>
            </a:pPr>
            <a:r>
              <a:rPr lang="en-US" dirty="0"/>
              <a:t>Less </a:t>
            </a:r>
            <a:r>
              <a:rPr lang="en-US" b="1" dirty="0"/>
              <a:t>interpretable</a:t>
            </a:r>
            <a:r>
              <a:rPr lang="en-US" dirty="0"/>
              <a:t> (harder to explain than one tree)</a:t>
            </a:r>
          </a:p>
          <a:p>
            <a:pPr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1176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E590A-E99D-4C54-3C3E-6EFEA2C0A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sklearn.ensemble</a:t>
            </a:r>
            <a:r>
              <a:rPr lang="en-IN" dirty="0"/>
              <a:t> import </a:t>
            </a:r>
            <a:r>
              <a:rPr lang="en-IN" dirty="0" err="1"/>
              <a:t>RandomForestClassifier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Example data: Hours studied → Passed (1) or Failed (0)</a:t>
            </a:r>
          </a:p>
          <a:p>
            <a:pPr marL="0" indent="0">
              <a:buNone/>
            </a:pPr>
            <a:r>
              <a:rPr lang="en-IN" dirty="0"/>
              <a:t>X = </a:t>
            </a:r>
            <a:r>
              <a:rPr lang="en-IN" dirty="0" err="1"/>
              <a:t>np.array</a:t>
            </a:r>
            <a:r>
              <a:rPr lang="en-IN" dirty="0"/>
              <a:t>([[1], [2], [3], [4], [5]])</a:t>
            </a:r>
          </a:p>
          <a:p>
            <a:pPr marL="0" indent="0">
              <a:buNone/>
            </a:pPr>
            <a:r>
              <a:rPr lang="en-IN" dirty="0"/>
              <a:t>y = </a:t>
            </a:r>
            <a:r>
              <a:rPr lang="en-IN" dirty="0" err="1"/>
              <a:t>np.array</a:t>
            </a:r>
            <a:r>
              <a:rPr lang="en-IN" dirty="0"/>
              <a:t>([0, 0, 0, 1, 1])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Create and train the model</a:t>
            </a:r>
          </a:p>
          <a:p>
            <a:pPr marL="0" indent="0">
              <a:buNone/>
            </a:pPr>
            <a:r>
              <a:rPr lang="en-IN" dirty="0"/>
              <a:t>forest = </a:t>
            </a:r>
            <a:r>
              <a:rPr lang="en-IN" dirty="0" err="1"/>
              <a:t>RandomForestClassifier</a:t>
            </a:r>
            <a:r>
              <a:rPr lang="en-IN" dirty="0"/>
              <a:t>(</a:t>
            </a:r>
            <a:r>
              <a:rPr lang="en-IN" dirty="0" err="1"/>
              <a:t>n_estimators</a:t>
            </a:r>
            <a:r>
              <a:rPr lang="en-IN" dirty="0"/>
              <a:t>=10, </a:t>
            </a:r>
            <a:r>
              <a:rPr lang="en-IN" dirty="0" err="1"/>
              <a:t>random_state</a:t>
            </a:r>
            <a:r>
              <a:rPr lang="en-IN" dirty="0"/>
              <a:t>=42)</a:t>
            </a:r>
          </a:p>
          <a:p>
            <a:pPr marL="0" indent="0">
              <a:buNone/>
            </a:pPr>
            <a:r>
              <a:rPr lang="en-IN" dirty="0" err="1"/>
              <a:t>forest.fit</a:t>
            </a:r>
            <a:r>
              <a:rPr lang="en-IN" dirty="0"/>
              <a:t>(X, y)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Predict for a new student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forest.predict</a:t>
            </a:r>
            <a:r>
              <a:rPr lang="en-IN" dirty="0"/>
              <a:t>([[3.5]]))         # Output: [1] → likely to pass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5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1381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Machine Learning Algorithm</vt:lpstr>
      <vt:lpstr>Linear Regression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KNN (K-Nearest Neighbors)</vt:lpstr>
      <vt:lpstr>PowerPoint Presentation</vt:lpstr>
      <vt:lpstr>PowerPoint Presentation</vt:lpstr>
      <vt:lpstr>PowerPoint Presentation</vt:lpstr>
      <vt:lpstr>Decision Tree</vt:lpstr>
      <vt:lpstr>PowerPoint Presentation</vt:lpstr>
      <vt:lpstr>PowerPoint Presentation</vt:lpstr>
      <vt:lpstr>PowerPoint Presentation</vt:lpstr>
      <vt:lpstr>Random Forest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Jade</dc:creator>
  <cp:lastModifiedBy>Mihir Jade</cp:lastModifiedBy>
  <cp:revision>2</cp:revision>
  <dcterms:created xsi:type="dcterms:W3CDTF">2025-07-02T06:46:23Z</dcterms:created>
  <dcterms:modified xsi:type="dcterms:W3CDTF">2025-07-02T07:11:03Z</dcterms:modified>
</cp:coreProperties>
</file>